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264d008c814f8a" /><Relationship Type="http://schemas.openxmlformats.org/officeDocument/2006/relationships/extended-properties" Target="/docProps/app.xml" Id="R044dd2c389334379" /><Relationship Type="http://schemas.openxmlformats.org/officeDocument/2006/relationships/officeDocument" Target="/ppt/presentation.xml" Id="Rc316d990df2b4079" /></Relationships>
</file>

<file path=ppt/presentation.xml><?xml version="1.0" encoding="utf-8"?>
<p:presentation xmlns:p="http://schemas.openxmlformats.org/presentationml/2006/main">
  <p:sldMasterIdLst>
    <p:sldMasterId xmlns:r="http://schemas.openxmlformats.org/officeDocument/2006/relationships" id="2147483648" r:id="Rb0d47b9943d246d8"/>
  </p:sldMasterIdLst>
  <p:notesMasterIdLst>
    <p:notesMasterId xmlns:r="http://schemas.openxmlformats.org/officeDocument/2006/relationships" r:id="R2eb0ae87094a4b05"/>
  </p:notesMasterIdLst>
  <p:sldIdLst>
    <p:sldId xmlns:r="http://schemas.openxmlformats.org/officeDocument/2006/relationships" id="256" r:id="R8534b7fe15ee4ddc"/>
    <p:sldId xmlns:r="http://schemas.openxmlformats.org/officeDocument/2006/relationships" id="257" r:id="R49e881cffca34591"/>
    <p:sldId xmlns:r="http://schemas.openxmlformats.org/officeDocument/2006/relationships" id="258" r:id="Rbdd58f6086df43dd"/>
    <p:sldId xmlns:r="http://schemas.openxmlformats.org/officeDocument/2006/relationships" id="259" r:id="Ra3cb4d7942cb4ee6"/>
    <p:sldId xmlns:r="http://schemas.openxmlformats.org/officeDocument/2006/relationships" id="260" r:id="Rf8954ea9b1b64135"/>
    <p:sldId xmlns:r="http://schemas.openxmlformats.org/officeDocument/2006/relationships" id="261" r:id="Red55fcdd7cb64317"/>
    <p:sldId xmlns:r="http://schemas.openxmlformats.org/officeDocument/2006/relationships" id="262" r:id="Ra096057de11945f0"/>
    <p:sldId xmlns:r="http://schemas.openxmlformats.org/officeDocument/2006/relationships" id="263" r:id="R10cfea6655644474"/>
    <p:sldId xmlns:r="http://schemas.openxmlformats.org/officeDocument/2006/relationships" id="264" r:id="R406e10e4b34647bf"/>
    <p:sldId xmlns:r="http://schemas.openxmlformats.org/officeDocument/2006/relationships" id="265" r:id="R846daa0634d942f1"/>
    <p:sldId xmlns:r="http://schemas.openxmlformats.org/officeDocument/2006/relationships" id="266" r:id="R69d9d251fa4f4f0c"/>
    <p:sldId xmlns:r="http://schemas.openxmlformats.org/officeDocument/2006/relationships" id="267" r:id="R93d13eea8e3f470f"/>
    <p:sldId xmlns:r="http://schemas.openxmlformats.org/officeDocument/2006/relationships" id="268" r:id="R143b907927894e14"/>
    <p:sldId xmlns:r="http://schemas.openxmlformats.org/officeDocument/2006/relationships" id="269" r:id="R74a70427d9fc47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5cbbf62766401a" /><Relationship Type="http://schemas.openxmlformats.org/officeDocument/2006/relationships/slideMaster" Target="/ppt/slideMasters/slideMaster1.xml" Id="Rb0d47b9943d246d8" /><Relationship Type="http://schemas.openxmlformats.org/officeDocument/2006/relationships/notesMaster" Target="/ppt/notesMasters/notesMaster1.xml" Id="R2eb0ae87094a4b05" /><Relationship Type="http://schemas.openxmlformats.org/officeDocument/2006/relationships/presProps" Target="/ppt/presProps.xml" Id="R9381762f5c4b4a56" /><Relationship Type="http://schemas.openxmlformats.org/officeDocument/2006/relationships/tableStyles" Target="/ppt/tableStyles.xml" Id="Redc815fd6a8e4a33" /><Relationship Type="http://schemas.openxmlformats.org/officeDocument/2006/relationships/slide" Target="/ppt/slides/slide1.xml" Id="R8534b7fe15ee4ddc" /><Relationship Type="http://schemas.openxmlformats.org/officeDocument/2006/relationships/slide" Target="/ppt/slides/slide2.xml" Id="R49e881cffca34591" /><Relationship Type="http://schemas.openxmlformats.org/officeDocument/2006/relationships/slide" Target="/ppt/slides/slide3.xml" Id="Rbdd58f6086df43dd" /><Relationship Type="http://schemas.openxmlformats.org/officeDocument/2006/relationships/slide" Target="/ppt/slides/slide4.xml" Id="Ra3cb4d7942cb4ee6" /><Relationship Type="http://schemas.openxmlformats.org/officeDocument/2006/relationships/slide" Target="/ppt/slides/slide5.xml" Id="Rf8954ea9b1b64135" /><Relationship Type="http://schemas.openxmlformats.org/officeDocument/2006/relationships/slide" Target="/ppt/slides/slide6.xml" Id="Red55fcdd7cb64317" /><Relationship Type="http://schemas.openxmlformats.org/officeDocument/2006/relationships/slide" Target="/ppt/slides/slide7.xml" Id="Ra096057de11945f0" /><Relationship Type="http://schemas.openxmlformats.org/officeDocument/2006/relationships/slide" Target="/ppt/slides/slide8.xml" Id="R10cfea6655644474" /><Relationship Type="http://schemas.openxmlformats.org/officeDocument/2006/relationships/slide" Target="/ppt/slides/slide9.xml" Id="R406e10e4b34647bf" /><Relationship Type="http://schemas.openxmlformats.org/officeDocument/2006/relationships/slide" Target="/ppt/slides/slide10.xml" Id="R846daa0634d942f1" /><Relationship Type="http://schemas.openxmlformats.org/officeDocument/2006/relationships/slide" Target="/ppt/slides/slide11.xml" Id="R69d9d251fa4f4f0c" /><Relationship Type="http://schemas.openxmlformats.org/officeDocument/2006/relationships/slide" Target="/ppt/slides/slide12.xml" Id="R93d13eea8e3f470f" /><Relationship Type="http://schemas.openxmlformats.org/officeDocument/2006/relationships/slide" Target="/ppt/slides/slide13.xml" Id="R143b907927894e14" /><Relationship Type="http://schemas.openxmlformats.org/officeDocument/2006/relationships/slide" Target="/ppt/slides/slide14.xml" Id="R74a70427d9fc47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3d54e83eaf49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69b069a1de49a8" /><Relationship Type="http://schemas.openxmlformats.org/officeDocument/2006/relationships/notesMaster" Target="/ppt/notesMasters/notesMaster1.xml" Id="R803765891b424f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e67267a33b4dff" /><Relationship Type="http://schemas.openxmlformats.org/officeDocument/2006/relationships/notesMaster" Target="/ppt/notesMasters/notesMaster1.xml" Id="R882a97b43ac348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2cbb76db7d44ab" /><Relationship Type="http://schemas.openxmlformats.org/officeDocument/2006/relationships/notesMaster" Target="/ppt/notesMasters/notesMaster1.xml" Id="R282987e956834f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fb81e8b8e44c40" /><Relationship Type="http://schemas.openxmlformats.org/officeDocument/2006/relationships/notesMaster" Target="/ppt/notesMasters/notesMaster1.xml" Id="R15fdddd638024c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aa78c303db4236" /><Relationship Type="http://schemas.openxmlformats.org/officeDocument/2006/relationships/notesMaster" Target="/ppt/notesMasters/notesMaster1.xml" Id="R64d6cf36560647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10278ab30949f8" /><Relationship Type="http://schemas.openxmlformats.org/officeDocument/2006/relationships/notesMaster" Target="/ppt/notesMasters/notesMaster1.xml" Id="R01348ad0a89c49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84ee1ca7724ca3" /><Relationship Type="http://schemas.openxmlformats.org/officeDocument/2006/relationships/notesMaster" Target="/ppt/notesMasters/notesMaster1.xml" Id="Rb1019c61facd4f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7dad1ed7fa40f0" /><Relationship Type="http://schemas.openxmlformats.org/officeDocument/2006/relationships/notesMaster" Target="/ppt/notesMasters/notesMaster1.xml" Id="Rf29140071bc446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31d6ea69ac455c" /><Relationship Type="http://schemas.openxmlformats.org/officeDocument/2006/relationships/notesMaster" Target="/ppt/notesMasters/notesMaster1.xml" Id="Reada64265f6d45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d7b0aa3cb047d4" /><Relationship Type="http://schemas.openxmlformats.org/officeDocument/2006/relationships/notesMaster" Target="/ppt/notesMasters/notesMaster1.xml" Id="Rbe23937326b841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ec3aad7361435d" /><Relationship Type="http://schemas.openxmlformats.org/officeDocument/2006/relationships/notesMaster" Target="/ppt/notesMasters/notesMaster1.xml" Id="R2b38f1236e8148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edf9a3354f49e3" /><Relationship Type="http://schemas.openxmlformats.org/officeDocument/2006/relationships/notesMaster" Target="/ppt/notesMasters/notesMaster1.xml" Id="Rfaad869677214d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ffc8fbbba7451f" /><Relationship Type="http://schemas.openxmlformats.org/officeDocument/2006/relationships/notesMaster" Target="/ppt/notesMasters/notesMaster1.xml" Id="Rfbd3c65b41cd43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2f12d20cfc48a9" /><Relationship Type="http://schemas.openxmlformats.org/officeDocument/2006/relationships/notesMaster" Target="/ppt/notesMasters/notesMaster1.xml" Id="R94027d692e6a44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HeatShield 813. Registered team: UrbanCool AI. Country represented: United Arab Emirates. Official theme: Urban Expansion, Land Use Change &amp; Heat Risk. The team supplied the registration details and full member names. All five members developed the project collaboratively. The demonstration reports actual results from an independent 1 km² window, using one observation date. The intended future pilot remains M11–M12.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framing comes from the team brief. The PoC does not measure population vulnerability, air temperature or individual heat exposure. It supplies surface observations to support further assessment.</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user and decision are proposed in the supplied business case. No user interviews have yet confirmed the current workflow or willingness to adopt the output. Actions in the map are candidates for field assessment.</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Landsat scene LC08_L2SP_161043_20260611_02_T1. Sentinel-2 scene S2B_MSIL2A_20260611T064619_R020_T40QBM_20260611T104324. USGS Landsat data are public domain: https://www.usgs.gov/faqs/are-there-any-restrictions-use-or-redistribution-landsat-data . Contains modified Copernicus Sentinel data (2026): https://sentinels.copernicus.eu/documents/247904/690755/Sentinel_Data_Legal_Notice . Microsoft Planetary Computer hosted upstream products. WorldCover is not used by this sample. The supplied CSV contains prepared cell values.</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describes code that is present in the submitted notebook and src/analysis.py. Priority ranking uses observed temperature directly and does not depend on model predictions. Model validation tests relationships between spectral indices and heat. The preprocessing record documents earlier calibration and masking, which this offline example does not rerun.</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output results/surface_temperature.png. Minimum 53.043182 °C, maximum 55.959846 °C, mean 54.361105 °C. These are land surface temperatures for the independent study window only. The stated range is not a measure of air temperature.</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output results/vegetation_signal.png. NDVI = (near infrared minus red)/(near infrared plus red). Indices are calculated from prepared cell-average reflectance rather than by averaging native-pixel indices. All features are broad spectral proxies. Detailed material labels require independent evidence.</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output results/priority_map.png. Heat percentile score = 100 × (average rank − 0.5)/N. Counts follow the chosen rule and are not independently validated risk categories. The priority map uses observed heat directly. Surface features inform candidate site assessments, not this heat score.</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record is selected from the current priority table and corresponds to the highest within-window heat score. The interactive_priority_map.html file presents these same per-cell values and source scene identifiers. This is an editable extract of actual output, not a screenshot of a validated municipal product.</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results/validation_summary.csv and validation_by_fold.csv. MAE means mean absolute error. RMSE means root mean squared error. Each eligible cell is tested once. Fold test sizes are 30, 30, 20 and 20. A &gt;200 m centre-distance exclusion gives a minimum retained training-test centre separation of 300 m. Negative average R² is a warning against strong predictive claims. These results do not establish causal surface effects or operational accuracy.</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independent rectangular window avoids redistribution of the restricted official sector polygons in the current files. The administrative boundary source has use restrictions: https://arcgis.sdi.abudhabi.ae/agspublish/rest/services/OpenData/ADSDI_OpenData/MapServer/2/iteminfo . Prior Git history may still contain the earlier notebook and needs a permission review. Site use, vulnerability, cost and water availability are not modelled.</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benefits are hypotheses for the next phase. No municipality has yet validated adoption or budget effects. The PoC does not quantify cooling, energy savings, health outcomes or returns on investment. Regional expansion depends on additional dates, appropriate data rights, field validation and planner testing.</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motivation is to turn satellite observations into decisions with public value and continue development beyond the competition. These milestones are proposed incubation work, not completed capabilities.</a:t>
            </a:r>
          </a:p>
          <a:p xmlns:a="http://schemas.openxmlformats.org/drawingml/2006/main">
            <a:r>
              <a:t/>
            </a:r>
          </a:p>
          <a:p xmlns:a="http://schemas.openxmlformats.org/drawingml/2006/main">
            <a:r>
              <a:t>Sources: project brief supplied by the team. Reproducible notebook notebooks/02_main_analysis.ipynb and results/ in https://github.com/Ruba-Babikir/HeatShield-813 . All reported results use the independent 1 km² window on 11 June 2026. No official sector polygons or hyperspectral inputs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roster and full names supplied by the user. Nyar is the team leader shown in the registration portal. Co-developer recognises the shared contribution of all members and does not imply exclusive ownership of individual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0004300a304b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e106fd64d74d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b7caf8afd74e2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b235ccfdcc4b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3cc940738a4a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f3b4a96d5c41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3539E6-FDD9-49BB-9473-2D6E06AA76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F6E6184-FD07-4855-A4AF-A83AF168FA8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8EAACB-F970-4B24-B8FE-351EE5EB3D8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753516-EA02-4160-93A4-7A9C39EDAB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CB5711-56E0-436E-A899-B34070F2330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5E63022-6DEE-47D8-AA74-40B7C317E7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698A0C-1E92-4211-A2C9-4A548901E9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14C9A23-F56D-47A1-869F-DCF2A0AE57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89AB3A-6702-4877-B15C-638B1743D2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02EF43-9323-40E4-9D89-B0FBF75E69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db635101f74774" /><Relationship Type="http://schemas.openxmlformats.org/officeDocument/2006/relationships/slideLayout" Target="/ppt/slideLayouts/slideLayout1.xml" Id="Rab184f58c6c84a3d" /><Relationship Type="http://schemas.openxmlformats.org/officeDocument/2006/relationships/slideLayout" Target="/ppt/slideLayouts/slideLayout2.xml" Id="Rff2fc1e19b2c4f4e" /><Relationship Type="http://schemas.openxmlformats.org/officeDocument/2006/relationships/slideLayout" Target="/ppt/slideLayouts/slideLayout3.xml" Id="R441bbbf9a21e45e0" /><Relationship Type="http://schemas.openxmlformats.org/officeDocument/2006/relationships/slideLayout" Target="/ppt/slideLayouts/slideLayout4.xml" Id="R3215a2cb69364716" /><Relationship Type="http://schemas.openxmlformats.org/officeDocument/2006/relationships/slideLayout" Target="/ppt/slideLayouts/slideLayout5.xml" Id="R1216588978644c85" /><Relationship Type="http://schemas.openxmlformats.org/officeDocument/2006/relationships/slideLayout" Target="/ppt/slideLayouts/slideLayout6.xml" Id="Rd61c2a0ed2b642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184f58c6c84a3d"/>
    <p:sldLayoutId xmlns:r="http://schemas.openxmlformats.org/officeDocument/2006/relationships" id="2147483650" r:id="Rff2fc1e19b2c4f4e"/>
    <p:sldLayoutId xmlns:r="http://schemas.openxmlformats.org/officeDocument/2006/relationships" id="2147483651" r:id="R441bbbf9a21e45e0"/>
    <p:sldLayoutId xmlns:r="http://schemas.openxmlformats.org/officeDocument/2006/relationships" id="2147483652" r:id="R3215a2cb69364716"/>
    <p:sldLayoutId xmlns:r="http://schemas.openxmlformats.org/officeDocument/2006/relationships" id="2147483653" r:id="R1216588978644c85"/>
    <p:sldLayoutId xmlns:r="http://schemas.openxmlformats.org/officeDocument/2006/relationships" id="2147483654" r:id="Rd61c2a0ed2b642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efd9cb7efc4960" /><Relationship Type="http://schemas.openxmlformats.org/officeDocument/2006/relationships/notesSlide" Target="/ppt/notesSlides/notesSlide1.xml" Id="R233439dd942a4a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94f8879a0bd4bcd" /><Relationship Type="http://schemas.openxmlformats.org/officeDocument/2006/relationships/notesSlide" Target="/ppt/notesSlides/notesSlide2.xml" Id="Rad24839145094f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81ef3a768b485a" /><Relationship Type="http://schemas.openxmlformats.org/officeDocument/2006/relationships/notesSlide" Target="/ppt/notesSlides/notesSlide3.xml" Id="Rcee699a3d82d4d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26d78fa9d14456" /><Relationship Type="http://schemas.openxmlformats.org/officeDocument/2006/relationships/notesSlide" Target="/ppt/notesSlides/notesSlide4.xml" Id="Rfd06b985c33647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76165ec8994c72" /><Relationship Type="http://schemas.openxmlformats.org/officeDocument/2006/relationships/notesSlide" Target="/ppt/notesSlides/notesSlide5.xml" Id="Rab22dbef8d6641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f5482e6d9c244e8" /><Relationship Type="http://schemas.openxmlformats.org/officeDocument/2006/relationships/image" Target="/ppt/media/image.png" Id="R0d8497095cc441c0" /><Relationship Type="http://schemas.openxmlformats.org/officeDocument/2006/relationships/notesSlide" Target="/ppt/notesSlides/notesSlide6.xml" Id="Rf973075b8e6749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7405e421e4f42e2" /><Relationship Type="http://schemas.openxmlformats.org/officeDocument/2006/relationships/image" Target="/ppt/media/image2.png" Id="Rafeedfcf1917420f" /><Relationship Type="http://schemas.openxmlformats.org/officeDocument/2006/relationships/notesSlide" Target="/ppt/notesSlides/notesSlide7.xml" Id="R2141acbf365246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64c6d8368b4cec" /><Relationship Type="http://schemas.openxmlformats.org/officeDocument/2006/relationships/image" Target="/ppt/media/image3.png" Id="R80ffbed531114477" /><Relationship Type="http://schemas.openxmlformats.org/officeDocument/2006/relationships/notesSlide" Target="/ppt/notesSlides/notesSlide8.xml" Id="R522bc174b9e84c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8c7cfa513545b2" /><Relationship Type="http://schemas.openxmlformats.org/officeDocument/2006/relationships/notesSlide" Target="/ppt/notesSlides/notesSlide9.xml" Id="R4794a75a33a049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f27ce7c328447e5" /><Relationship Type="http://schemas.openxmlformats.org/officeDocument/2006/relationships/notesSlide" Target="/ppt/notesSlides/notesSlide10.xml" Id="R269e9f04033f46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1f145b5254a40d9" /><Relationship Type="http://schemas.openxmlformats.org/officeDocument/2006/relationships/notesSlide" Target="/ppt/notesSlides/notesSlide11.xml" Id="R506a2538b4f64a1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ad7578469a4f1c" /><Relationship Type="http://schemas.openxmlformats.org/officeDocument/2006/relationships/notesSlide" Target="/ppt/notesSlides/notesSlide12.xml" Id="R1e77fe57dd8e45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5e8c3f9df5748b1" /><Relationship Type="http://schemas.openxmlformats.org/officeDocument/2006/relationships/notesSlide" Target="/ppt/notesSlides/notesSlide13.xml" Id="R20c9a83379f844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e7ef73f9fdc4633" /><Relationship Type="http://schemas.openxmlformats.org/officeDocument/2006/relationships/notesSlide" Target="/ppt/notesSlides/notesSlide14.xml" Id="Rf097ac5596af4aab" /></Relationships>
</file>

<file path=ppt/slides/slide1.xml><?xml version="1.0" encoding="utf-8"?>
<p:sld xmlns:p="http://schemas.openxmlformats.org/presentationml/2006/main">
  <p:cSld>
    <p:bg>
      <p:bgPr>
        <a:solidFill xmlns:a="http://schemas.openxmlformats.org/drawingml/2006/main">
          <a:srgbClr val="163C3D"/>
        </a:soli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8DEC2657-49DE-48E4-AA27-F434B8FE1099}"/>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D8E4DF"/>
                </a:solidFill>
                <a:latin typeface="DejaVu Sans"/>
                <a:ea typeface="DejaVu Sans"/>
                <a:cs typeface="DejaVu Sans"/>
              </a:defRPr>
            </a:defPPr>
          </a:lstStyle>
          <a:p xmlns:a="http://schemas.openxmlformats.org/drawingml/2006/main">
            <a:pPr algn="l">
              <a:buNone/>
              <a:defRPr sz="1125" b="0">
                <a:solidFill>
                  <a:srgbClr val="D8E4DF"/>
                </a:solidFill>
                <a:latin typeface="DejaVu Sans"/>
                <a:ea typeface="DejaVu Sans"/>
                <a:cs typeface="DejaVu Sans"/>
              </a:defRPr>
            </a:pPr>
            <a:r>
              <a:rPr sz="1125" b="0">
                <a:solidFill>
                  <a:srgbClr val="D8E4DF"/>
                </a:solidFill>
                <a:latin typeface="DejaVu Sans"/>
                <a:ea typeface="DejaVu Sans"/>
                <a:cs typeface="DejaVu Sans"/>
              </a:rPr>
              <a:t>HeatShield 813</a:t>
            </a:r>
          </a:p>
        </p:txBody>
      </p:sp>
      <p:sp>
        <p:nvSpPr>
          <p:cNvPr id="2" name="text">
            <a:extLst xmlns:a="http://schemas.openxmlformats.org/drawingml/2006/main">
              <a:ext uri="{FF2B5EF4-FFF2-40B4-BE49-F238E27FC236}">
                <a16:creationId xmlns:a16="http://schemas.microsoft.com/office/drawing/2014/main" id="{12301C33-E6FD-4B4B-A7D3-91543AFABCB6}"/>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D8E4DF"/>
                </a:solidFill>
                <a:latin typeface="DejaVu Sans"/>
                <a:ea typeface="DejaVu Sans"/>
                <a:cs typeface="DejaVu Sans"/>
              </a:defRPr>
            </a:defPPr>
          </a:lstStyle>
          <a:p xmlns:a="http://schemas.openxmlformats.org/drawingml/2006/main">
            <a:pPr algn="l">
              <a:buNone/>
              <a:defRPr sz="1125" b="0">
                <a:solidFill>
                  <a:srgbClr val="D8E4DF"/>
                </a:solidFill>
                <a:latin typeface="DejaVu Sans"/>
                <a:ea typeface="DejaVu Sans"/>
                <a:cs typeface="DejaVu Sans"/>
              </a:defRPr>
            </a:pPr>
            <a:r>
              <a:rPr sz="1125" b="0">
                <a:solidFill>
                  <a:srgbClr val="D8E4DF"/>
                </a:solidFill>
                <a:latin typeface="DejaVu Sans"/>
                <a:ea typeface="DejaVu Sans"/>
                <a:cs typeface="DejaVu Sans"/>
              </a:rPr>
              <a:t>01</a:t>
            </a:r>
          </a:p>
        </p:txBody>
      </p:sp>
      <p:sp>
        <p:nvSpPr>
          <p:cNvPr id="3" name="text">
            <a:extLst xmlns:a="http://schemas.openxmlformats.org/drawingml/2006/main">
              <a:ext uri="{FF2B5EF4-FFF2-40B4-BE49-F238E27FC236}">
                <a16:creationId xmlns:a16="http://schemas.microsoft.com/office/drawing/2014/main" id="{4E71745B-2102-42C9-A347-26BC8C1DBECD}"/>
              </a:ext>
            </a:extLst>
          </p:cNvPr>
          <p:cNvSpPr>
            <a:spLocks xmlns:a="http://schemas.openxmlformats.org/drawingml/2006/main" noGrp="1"/>
          </p:cNvSpPr>
          <p:nvPr/>
        </p:nvSpPr>
        <p:spPr>
          <a:xfrm xmlns:a="http://schemas.openxmlformats.org/drawingml/2006/main">
            <a:off x="609600" y="666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E5B87B"/>
                </a:solidFill>
                <a:latin typeface="DejaVu Sans"/>
                <a:ea typeface="DejaVu Sans"/>
                <a:cs typeface="DejaVu Sans"/>
              </a:defRPr>
            </a:defPPr>
          </a:lstStyle>
          <a:p xmlns:a="http://schemas.openxmlformats.org/drawingml/2006/main">
            <a:pPr algn="l">
              <a:buNone/>
              <a:defRPr sz="1650" b="1">
                <a:solidFill>
                  <a:srgbClr val="E5B87B"/>
                </a:solidFill>
                <a:latin typeface="DejaVu Sans"/>
                <a:ea typeface="DejaVu Sans"/>
                <a:cs typeface="DejaVu Sans"/>
              </a:defRPr>
            </a:pPr>
            <a:r>
              <a:rPr sz="1650" b="1">
                <a:solidFill>
                  <a:srgbClr val="E5B87B"/>
                </a:solidFill>
                <a:latin typeface="DejaVu Sans"/>
                <a:ea typeface="DejaVu Sans"/>
                <a:cs typeface="DejaVu Sans"/>
              </a:rPr>
              <a:t>Satellite evidence for cooling assessments</a:t>
            </a:r>
          </a:p>
        </p:txBody>
      </p:sp>
      <p:sp>
        <p:nvSpPr>
          <p:cNvPr id="4" name="title">
            <a:extLst xmlns:a="http://schemas.openxmlformats.org/drawingml/2006/main">
              <a:ext uri="{FF2B5EF4-FFF2-40B4-BE49-F238E27FC236}">
                <a16:creationId xmlns:a16="http://schemas.microsoft.com/office/drawing/2014/main" id="{944F12AB-9D7D-4C38-9D39-0134738C9A50}"/>
              </a:ext>
            </a:extLst>
          </p:cNvPr>
          <p:cNvSpPr>
            <a:spLocks xmlns:a="http://schemas.openxmlformats.org/drawingml/2006/main" noGrp="1"/>
          </p:cNvSpPr>
          <p:nvPr/>
        </p:nvSpPr>
        <p:spPr>
          <a:xfrm xmlns:a="http://schemas.openxmlformats.org/drawingml/2006/main">
            <a:off x="571500" y="1628775"/>
            <a:ext cx="11049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F6F2E9"/>
                </a:solidFill>
                <a:latin typeface="DejaVu Sans"/>
                <a:ea typeface="DejaVu Sans"/>
                <a:cs typeface="DejaVu Sans"/>
              </a:defRPr>
            </a:defPPr>
          </a:lstStyle>
          <a:p xmlns:a="http://schemas.openxmlformats.org/drawingml/2006/main">
            <a:pPr algn="l">
              <a:buNone/>
              <a:defRPr sz="6600" b="1">
                <a:solidFill>
                  <a:srgbClr val="F6F2E9"/>
                </a:solidFill>
                <a:latin typeface="DejaVu Sans"/>
                <a:ea typeface="DejaVu Sans"/>
                <a:cs typeface="DejaVu Sans"/>
              </a:defRPr>
            </a:pPr>
            <a:r>
              <a:rPr sz="6600" b="1">
                <a:solidFill>
                  <a:srgbClr val="F6F2E9"/>
                </a:solidFill>
                <a:latin typeface="DejaVu Sans"/>
                <a:ea typeface="DejaVu Sans"/>
                <a:cs typeface="DejaVu Sans"/>
              </a:rPr>
              <a:t>HeatShield 813</a:t>
            </a:r>
          </a:p>
        </p:txBody>
      </p:sp>
      <p:sp>
        <p:nvSpPr>
          <p:cNvPr id="5" name="text">
            <a:extLst xmlns:a="http://schemas.openxmlformats.org/drawingml/2006/main">
              <a:ext uri="{FF2B5EF4-FFF2-40B4-BE49-F238E27FC236}">
                <a16:creationId xmlns:a16="http://schemas.microsoft.com/office/drawing/2014/main" id="{AB3ED34E-6412-4186-9146-9B57A8700315}"/>
              </a:ext>
            </a:extLst>
          </p:cNvPr>
          <p:cNvSpPr>
            <a:spLocks xmlns:a="http://schemas.openxmlformats.org/drawingml/2006/main" noGrp="1"/>
          </p:cNvSpPr>
          <p:nvPr/>
        </p:nvSpPr>
        <p:spPr>
          <a:xfrm xmlns:a="http://schemas.openxmlformats.org/drawingml/2006/main">
            <a:off x="638175" y="3305175"/>
            <a:ext cx="10382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6F2E9"/>
                </a:solidFill>
                <a:latin typeface="DejaVu Sans"/>
                <a:ea typeface="DejaVu Sans"/>
                <a:cs typeface="DejaVu Sans"/>
              </a:defRPr>
            </a:defPPr>
          </a:lstStyle>
          <a:p xmlns:a="http://schemas.openxmlformats.org/drawingml/2006/main">
            <a:pPr algn="l">
              <a:buNone/>
              <a:defRPr sz="2400" b="0">
                <a:solidFill>
                  <a:srgbClr val="F6F2E9"/>
                </a:solidFill>
                <a:latin typeface="DejaVu Sans"/>
                <a:ea typeface="DejaVu Sans"/>
                <a:cs typeface="DejaVu Sans"/>
              </a:defRPr>
            </a:pPr>
            <a:r>
              <a:rPr sz="2400" b="0">
                <a:solidFill>
                  <a:srgbClr val="F6F2E9"/>
                </a:solidFill>
                <a:latin typeface="DejaVu Sans"/>
                <a:ea typeface="DejaVu Sans"/>
                <a:cs typeface="DejaVu Sans"/>
              </a:rPr>
              <a:t>UrbanCool AI, United Arab Emirates</a:t>
            </a:r>
          </a:p>
        </p:txBody>
      </p:sp>
      <p:sp>
        <p:nvSpPr>
          <p:cNvPr id="6" name="text">
            <a:extLst xmlns:a="http://schemas.openxmlformats.org/drawingml/2006/main">
              <a:ext uri="{FF2B5EF4-FFF2-40B4-BE49-F238E27FC236}">
                <a16:creationId xmlns:a16="http://schemas.microsoft.com/office/drawing/2014/main" id="{74292988-A2A5-4AB0-9CA9-A0398DBB7221}"/>
              </a:ext>
            </a:extLst>
          </p:cNvPr>
          <p:cNvSpPr>
            <a:spLocks xmlns:a="http://schemas.openxmlformats.org/drawingml/2006/main" noGrp="1"/>
          </p:cNvSpPr>
          <p:nvPr/>
        </p:nvSpPr>
        <p:spPr>
          <a:xfrm xmlns:a="http://schemas.openxmlformats.org/drawingml/2006/main">
            <a:off x="638175" y="40195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8E4DF"/>
                </a:solidFill>
                <a:latin typeface="DejaVu Sans"/>
                <a:ea typeface="DejaVu Sans"/>
                <a:cs typeface="DejaVu Sans"/>
              </a:defRPr>
            </a:defPPr>
          </a:lstStyle>
          <a:p xmlns:a="http://schemas.openxmlformats.org/drawingml/2006/main">
            <a:pPr algn="l">
              <a:buNone/>
              <a:defRPr sz="2025" b="0">
                <a:solidFill>
                  <a:srgbClr val="D8E4DF"/>
                </a:solidFill>
                <a:latin typeface="DejaVu Sans"/>
                <a:ea typeface="DejaVu Sans"/>
                <a:cs typeface="DejaVu Sans"/>
              </a:defRPr>
            </a:pPr>
            <a:r>
              <a:rPr sz="2025" b="0">
                <a:solidFill>
                  <a:srgbClr val="D8E4DF"/>
                </a:solidFill>
                <a:latin typeface="DejaVu Sans"/>
                <a:ea typeface="DejaVu Sans"/>
                <a:cs typeface="DejaVu Sans"/>
              </a:rPr>
              <a:t>Mussafah, Abu Dhabi: 1 km², 100 cells, one date</a:t>
            </a:r>
          </a:p>
        </p:txBody>
      </p:sp>
      <p:sp>
        <p:nvSpPr>
          <p:cNvPr id="7" name="text">
            <a:extLst xmlns:a="http://schemas.openxmlformats.org/drawingml/2006/main">
              <a:ext uri="{FF2B5EF4-FFF2-40B4-BE49-F238E27FC236}">
                <a16:creationId xmlns:a16="http://schemas.microsoft.com/office/drawing/2014/main" id="{A1CB29A4-3E71-4482-98F8-F9C630216CBF}"/>
              </a:ext>
            </a:extLst>
          </p:cNvPr>
          <p:cNvSpPr>
            <a:spLocks xmlns:a="http://schemas.openxmlformats.org/drawingml/2006/main" noGrp="1"/>
          </p:cNvSpPr>
          <p:nvPr/>
        </p:nvSpPr>
        <p:spPr>
          <a:xfrm xmlns:a="http://schemas.openxmlformats.org/drawingml/2006/main">
            <a:off x="638175" y="5057775"/>
            <a:ext cx="10620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5B87B"/>
                </a:solidFill>
                <a:latin typeface="DejaVu Sans"/>
                <a:ea typeface="DejaVu Sans"/>
                <a:cs typeface="DejaVu Sans"/>
              </a:defRPr>
            </a:defPPr>
          </a:lstStyle>
          <a:p xmlns:a="http://schemas.openxmlformats.org/drawingml/2006/main">
            <a:pPr algn="l">
              <a:buNone/>
              <a:defRPr sz="1950" b="0">
                <a:solidFill>
                  <a:srgbClr val="E5B87B"/>
                </a:solidFill>
                <a:latin typeface="DejaVu Sans"/>
                <a:ea typeface="DejaVu Sans"/>
                <a:cs typeface="DejaVu Sans"/>
              </a:defRPr>
            </a:pPr>
            <a:r>
              <a:rPr sz="1950" b="0">
                <a:solidFill>
                  <a:srgbClr val="E5B87B"/>
                </a:solidFill>
                <a:latin typeface="DejaVu Sans"/>
                <a:ea typeface="DejaVu Sans"/>
                <a:cs typeface="DejaVu Sans"/>
              </a:rPr>
              <a:t>Official theme</a:t>
            </a:r>
          </a:p>
          <a:p xmlns:a="http://schemas.openxmlformats.org/drawingml/2006/main">
            <a:pPr algn="l">
              <a:buNone/>
              <a:defRPr sz="1950" b="0">
                <a:solidFill>
                  <a:srgbClr val="E5B87B"/>
                </a:solidFill>
                <a:latin typeface="DejaVu Sans"/>
                <a:ea typeface="DejaVu Sans"/>
                <a:cs typeface="DejaVu Sans"/>
              </a:defRPr>
            </a:pPr>
            <a:r>
              <a:rPr sz="1950" b="0">
                <a:solidFill>
                  <a:srgbClr val="E5B87B"/>
                </a:solidFill>
                <a:latin typeface="DejaVu Sans"/>
                <a:ea typeface="DejaVu Sans"/>
                <a:cs typeface="DejaVu Sans"/>
              </a:rPr>
              <a:t>Urban Expansion, Land Use Change &amp; Heat Risk</a:t>
            </a:r>
          </a:p>
        </p:txBody>
      </p:sp>
    </p:spTree>
    <p:extLst>
      <p:ext uri="{BB962C8B-B14F-4D97-AF65-F5344CB8AC3E}">
        <p14:creationId xmlns:p14="http://schemas.microsoft.com/office/powerpoint/2010/main" val="2097186314"/>
      </p:ext>
    </p:extLst>
  </p:cSld>
</p:sld>
</file>

<file path=ppt/slides/slide2.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69519ABD-E31F-41B7-ADFF-B44DFEB88071}"/>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The problem and who is affected</a:t>
            </a:r>
          </a:p>
        </p:txBody>
      </p:sp>
      <p:sp>
        <p:nvSpPr>
          <p:cNvPr id="2" name="text">
            <a:extLst xmlns:a="http://schemas.openxmlformats.org/drawingml/2006/main">
              <a:ext uri="{FF2B5EF4-FFF2-40B4-BE49-F238E27FC236}">
                <a16:creationId xmlns:a16="http://schemas.microsoft.com/office/drawing/2014/main" id="{A52D196C-929D-4C9A-AA4D-E98D32EEDFFF}"/>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A1B730F3-A563-40CB-82DA-2764846C4EE8}"/>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02</a:t>
            </a:r>
          </a:p>
        </p:txBody>
      </p:sp>
      <p:sp>
        <p:nvSpPr>
          <p:cNvPr id="4" name="text">
            <a:extLst xmlns:a="http://schemas.openxmlformats.org/drawingml/2006/main">
              <a:ext uri="{FF2B5EF4-FFF2-40B4-BE49-F238E27FC236}">
                <a16:creationId xmlns:a16="http://schemas.microsoft.com/office/drawing/2014/main" id="{1B567F60-0D20-4713-B2EA-40651B1B1DF6}"/>
              </a:ext>
            </a:extLst>
          </p:cNvPr>
          <p:cNvSpPr>
            <a:spLocks xmlns:a="http://schemas.openxmlformats.org/drawingml/2006/main" noGrp="1"/>
          </p:cNvSpPr>
          <p:nvPr/>
        </p:nvSpPr>
        <p:spPr>
          <a:xfrm xmlns:a="http://schemas.openxmlformats.org/drawingml/2006/main">
            <a:off x="609600" y="1628775"/>
            <a:ext cx="55721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63C3D"/>
                </a:solidFill>
                <a:latin typeface="DejaVu Sans"/>
                <a:ea typeface="DejaVu Sans"/>
                <a:cs typeface="DejaVu Sans"/>
              </a:defRPr>
            </a:defPPr>
          </a:lstStyle>
          <a:p xmlns:a="http://schemas.openxmlformats.org/drawingml/2006/main">
            <a:pPr algn="l">
              <a:buNone/>
              <a:defRPr sz="3450" b="1">
                <a:solidFill>
                  <a:srgbClr val="163C3D"/>
                </a:solidFill>
                <a:latin typeface="DejaVu Sans"/>
                <a:ea typeface="DejaVu Sans"/>
                <a:cs typeface="DejaVu Sans"/>
              </a:defRPr>
            </a:pPr>
            <a:r>
              <a:rPr sz="3450" b="1">
                <a:solidFill>
                  <a:srgbClr val="163C3D"/>
                </a:solidFill>
                <a:latin typeface="DejaVu Sans"/>
                <a:ea typeface="DejaVu Sans"/>
                <a:cs typeface="DejaVu Sans"/>
              </a:rPr>
              <a:t>Heat varies across</a:t>
            </a:r>
          </a:p>
          <a:p xmlns:a="http://schemas.openxmlformats.org/drawingml/2006/main">
            <a:pPr algn="l">
              <a:buNone/>
              <a:defRPr sz="3450" b="1">
                <a:solidFill>
                  <a:srgbClr val="163C3D"/>
                </a:solidFill>
                <a:latin typeface="DejaVu Sans"/>
                <a:ea typeface="DejaVu Sans"/>
                <a:cs typeface="DejaVu Sans"/>
              </a:defRPr>
            </a:pPr>
            <a:r>
              <a:rPr sz="3450" b="1">
                <a:solidFill>
                  <a:srgbClr val="163C3D"/>
                </a:solidFill>
                <a:latin typeface="DejaVu Sans"/>
                <a:ea typeface="DejaVu Sans"/>
                <a:cs typeface="DejaVu Sans"/>
              </a:rPr>
              <a:t>urban neighbourhoods</a:t>
            </a:r>
          </a:p>
        </p:txBody>
      </p:sp>
      <p:sp>
        <p:nvSpPr>
          <p:cNvPr id="5" name="text">
            <a:extLst xmlns:a="http://schemas.openxmlformats.org/drawingml/2006/main">
              <a:ext uri="{FF2B5EF4-FFF2-40B4-BE49-F238E27FC236}">
                <a16:creationId xmlns:a16="http://schemas.microsoft.com/office/drawing/2014/main" id="{A6324F5D-5F97-4738-A74D-B3F4AAABCC72}"/>
              </a:ext>
            </a:extLst>
          </p:cNvPr>
          <p:cNvSpPr>
            <a:spLocks xmlns:a="http://schemas.openxmlformats.org/drawingml/2006/main" noGrp="1"/>
          </p:cNvSpPr>
          <p:nvPr/>
        </p:nvSpPr>
        <p:spPr>
          <a:xfrm xmlns:a="http://schemas.openxmlformats.org/drawingml/2006/main">
            <a:off x="609600" y="3505200"/>
            <a:ext cx="519112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C3D"/>
                </a:solidFill>
                <a:latin typeface="DejaVu Sans"/>
                <a:ea typeface="DejaVu Sans"/>
                <a:cs typeface="DejaVu Sans"/>
              </a:defRPr>
            </a:defPPr>
          </a:lstStyle>
          <a:p xmlns:a="http://schemas.openxmlformats.org/drawingml/2006/main">
            <a:pPr algn="l">
              <a:buNone/>
              <a:defRPr sz="2175" b="0">
                <a:solidFill>
                  <a:srgbClr val="163C3D"/>
                </a:solidFill>
                <a:latin typeface="DejaVu Sans"/>
                <a:ea typeface="DejaVu Sans"/>
                <a:cs typeface="DejaVu Sans"/>
              </a:defRPr>
            </a:pPr>
            <a:r>
              <a:rPr sz="2175" b="0">
                <a:solidFill>
                  <a:srgbClr val="163C3D"/>
                </a:solidFill>
                <a:latin typeface="DejaVu Sans"/>
                <a:ea typeface="DejaVu Sans"/>
                <a:cs typeface="DejaVu Sans"/>
              </a:rPr>
              <a:t>Exposed roofs, paved areas and limited vegetation create different surface conditions within the same city.</a:t>
            </a:r>
          </a:p>
        </p:txBody>
      </p:sp>
      <p:sp>
        <p:nvSpPr>
          <p:cNvPr id="6" name="text">
            <a:extLst xmlns:a="http://schemas.openxmlformats.org/drawingml/2006/main">
              <a:ext uri="{FF2B5EF4-FFF2-40B4-BE49-F238E27FC236}">
                <a16:creationId xmlns:a16="http://schemas.microsoft.com/office/drawing/2014/main" id="{E068970F-6837-44F8-8F9C-25482527F715}"/>
              </a:ext>
            </a:extLst>
          </p:cNvPr>
          <p:cNvSpPr>
            <a:spLocks xmlns:a="http://schemas.openxmlformats.org/drawingml/2006/main" noGrp="1"/>
          </p:cNvSpPr>
          <p:nvPr/>
        </p:nvSpPr>
        <p:spPr>
          <a:xfrm xmlns:a="http://schemas.openxmlformats.org/drawingml/2006/main">
            <a:off x="6762750" y="16764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Affected communities</a:t>
            </a:r>
          </a:p>
        </p:txBody>
      </p:sp>
      <p:sp>
        <p:nvSpPr>
          <p:cNvPr id="7" name="text">
            <a:extLst xmlns:a="http://schemas.openxmlformats.org/drawingml/2006/main">
              <a:ext uri="{FF2B5EF4-FFF2-40B4-BE49-F238E27FC236}">
                <a16:creationId xmlns:a16="http://schemas.microsoft.com/office/drawing/2014/main" id="{B8F500F4-31AC-4966-B22A-5DC4FA6A1DB4}"/>
              </a:ext>
            </a:extLst>
          </p:cNvPr>
          <p:cNvSpPr>
            <a:spLocks xmlns:a="http://schemas.openxmlformats.org/drawingml/2006/main" noGrp="1"/>
          </p:cNvSpPr>
          <p:nvPr/>
        </p:nvSpPr>
        <p:spPr>
          <a:xfrm xmlns:a="http://schemas.openxmlformats.org/drawingml/2006/main">
            <a:off x="6762750" y="2143125"/>
            <a:ext cx="4800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C3D"/>
                </a:solidFill>
                <a:latin typeface="DejaVu Sans"/>
                <a:ea typeface="DejaVu Sans"/>
                <a:cs typeface="DejaVu Sans"/>
              </a:defRPr>
            </a:defPPr>
          </a:lstStyle>
          <a:p xmlns:a="http://schemas.openxmlformats.org/drawingml/2006/main">
            <a:pPr algn="l">
              <a:buNone/>
              <a:defRPr sz="2100" b="0">
                <a:solidFill>
                  <a:srgbClr val="163C3D"/>
                </a:solidFill>
                <a:latin typeface="DejaVu Sans"/>
                <a:ea typeface="DejaVu Sans"/>
                <a:cs typeface="DejaVu Sans"/>
              </a:defRPr>
            </a:pPr>
            <a:r>
              <a:rPr sz="2100" b="0">
                <a:solidFill>
                  <a:srgbClr val="163C3D"/>
                </a:solidFill>
                <a:latin typeface="DejaVu Sans"/>
                <a:ea typeface="DejaVu Sans"/>
                <a:cs typeface="DejaVu Sans"/>
              </a:rPr>
              <a:t>People who work outdoors or use exposed public spaces in hot urban districts.</a:t>
            </a:r>
          </a:p>
        </p:txBody>
      </p:sp>
      <p:sp>
        <p:nvSpPr>
          <p:cNvPr id="8" name="text">
            <a:extLst xmlns:a="http://schemas.openxmlformats.org/drawingml/2006/main">
              <a:ext uri="{FF2B5EF4-FFF2-40B4-BE49-F238E27FC236}">
                <a16:creationId xmlns:a16="http://schemas.microsoft.com/office/drawing/2014/main" id="{B5D2DFC8-200D-45FC-A5EB-49393AD7DB96}"/>
              </a:ext>
            </a:extLst>
          </p:cNvPr>
          <p:cNvSpPr>
            <a:spLocks xmlns:a="http://schemas.openxmlformats.org/drawingml/2006/main" noGrp="1"/>
          </p:cNvSpPr>
          <p:nvPr/>
        </p:nvSpPr>
        <p:spPr>
          <a:xfrm xmlns:a="http://schemas.openxmlformats.org/drawingml/2006/main">
            <a:off x="6762750" y="3724275"/>
            <a:ext cx="480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Municipal decision gap</a:t>
            </a:r>
          </a:p>
        </p:txBody>
      </p:sp>
      <p:sp>
        <p:nvSpPr>
          <p:cNvPr id="9" name="text">
            <a:extLst xmlns:a="http://schemas.openxmlformats.org/drawingml/2006/main">
              <a:ext uri="{FF2B5EF4-FFF2-40B4-BE49-F238E27FC236}">
                <a16:creationId xmlns:a16="http://schemas.microsoft.com/office/drawing/2014/main" id="{C26CAD93-FBF7-4F44-A092-74630E861D0E}"/>
              </a:ext>
            </a:extLst>
          </p:cNvPr>
          <p:cNvSpPr>
            <a:spLocks xmlns:a="http://schemas.openxmlformats.org/drawingml/2006/main" noGrp="1"/>
          </p:cNvSpPr>
          <p:nvPr/>
        </p:nvSpPr>
        <p:spPr>
          <a:xfrm xmlns:a="http://schemas.openxmlformats.org/drawingml/2006/main">
            <a:off x="6762750" y="4191000"/>
            <a:ext cx="48006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C3D"/>
                </a:solidFill>
                <a:latin typeface="DejaVu Sans"/>
                <a:ea typeface="DejaVu Sans"/>
                <a:cs typeface="DejaVu Sans"/>
              </a:defRPr>
            </a:defPPr>
          </a:lstStyle>
          <a:p xmlns:a="http://schemas.openxmlformats.org/drawingml/2006/main">
            <a:pPr algn="l">
              <a:buNone/>
              <a:defRPr sz="2100" b="0">
                <a:solidFill>
                  <a:srgbClr val="163C3D"/>
                </a:solidFill>
                <a:latin typeface="DejaVu Sans"/>
                <a:ea typeface="DejaVu Sans"/>
                <a:cs typeface="DejaVu Sans"/>
              </a:defRPr>
            </a:pPr>
            <a:r>
              <a:rPr sz="2100" b="0">
                <a:solidFill>
                  <a:srgbClr val="163C3D"/>
                </a:solidFill>
                <a:latin typeface="DejaVu Sans"/>
                <a:ea typeface="DejaVu Sans"/>
                <a:cs typeface="DejaVu Sans"/>
              </a:rPr>
              <a:t>Limited cooling budgets need local evidence about where to inspect and what to assess.</a:t>
            </a:r>
          </a:p>
        </p:txBody>
      </p:sp>
      <p:sp>
        <p:nvSpPr>
          <p:cNvPr id="10" name="text">
            <a:extLst xmlns:a="http://schemas.openxmlformats.org/drawingml/2006/main">
              <a:ext uri="{FF2B5EF4-FFF2-40B4-BE49-F238E27FC236}">
                <a16:creationId xmlns:a16="http://schemas.microsoft.com/office/drawing/2014/main" id="{9E3BE677-A5F2-40A6-ADA0-3BE7ED5836E6}"/>
              </a:ext>
            </a:extLst>
          </p:cNvPr>
          <p:cNvSpPr>
            <a:spLocks xmlns:a="http://schemas.openxmlformats.org/drawingml/2006/main" noGrp="1"/>
          </p:cNvSpPr>
          <p:nvPr/>
        </p:nvSpPr>
        <p:spPr>
          <a:xfrm xmlns:a="http://schemas.openxmlformats.org/drawingml/2006/main">
            <a:off x="609600" y="58959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45336"/>
                </a:solidFill>
                <a:latin typeface="DejaVu Sans"/>
                <a:ea typeface="DejaVu Sans"/>
                <a:cs typeface="DejaVu Sans"/>
              </a:defRPr>
            </a:defPPr>
          </a:lstStyle>
          <a:p xmlns:a="http://schemas.openxmlformats.org/drawingml/2006/main">
            <a:pPr algn="l">
              <a:buNone/>
              <a:defRPr sz="1725" b="0">
                <a:solidFill>
                  <a:srgbClr val="B45336"/>
                </a:solidFill>
                <a:latin typeface="DejaVu Sans"/>
                <a:ea typeface="DejaVu Sans"/>
                <a:cs typeface="DejaVu Sans"/>
              </a:defRPr>
            </a:pPr>
            <a:r>
              <a:rPr sz="1725" b="0">
                <a:solidFill>
                  <a:srgbClr val="B45336"/>
                </a:solidFill>
                <a:latin typeface="DejaVu Sans"/>
                <a:ea typeface="DejaVu Sans"/>
                <a:cs typeface="DejaVu Sans"/>
              </a:rPr>
              <a:t>This project measures surface temperature at satellite overpass times.</a:t>
            </a:r>
          </a:p>
        </p:txBody>
      </p:sp>
    </p:spTree>
    <p:extLst>
      <p:ext uri="{BB962C8B-B14F-4D97-AF65-F5344CB8AC3E}">
        <p14:creationId xmlns:p14="http://schemas.microsoft.com/office/powerpoint/2010/main" val="995998346"/>
      </p:ext>
    </p:extLst>
  </p:cSld>
</p:sld>
</file>

<file path=ppt/slides/slide3.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F811E25D-76DB-42BB-ADE7-CDA72999D5BF}"/>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The business use case</a:t>
            </a:r>
          </a:p>
        </p:txBody>
      </p:sp>
      <p:sp>
        <p:nvSpPr>
          <p:cNvPr id="2" name="text">
            <a:extLst xmlns:a="http://schemas.openxmlformats.org/drawingml/2006/main">
              <a:ext uri="{FF2B5EF4-FFF2-40B4-BE49-F238E27FC236}">
                <a16:creationId xmlns:a16="http://schemas.microsoft.com/office/drawing/2014/main" id="{0222DD5B-DF89-4037-8E0B-9F3AADE5FF37}"/>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871CA3A5-F36D-4277-B8C7-BA7293B21530}"/>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03</a:t>
            </a:r>
          </a:p>
        </p:txBody>
      </p:sp>
      <p:sp>
        <p:nvSpPr>
          <p:cNvPr id="4" name="text">
            <a:extLst xmlns:a="http://schemas.openxmlformats.org/drawingml/2006/main">
              <a:ext uri="{FF2B5EF4-FFF2-40B4-BE49-F238E27FC236}">
                <a16:creationId xmlns:a16="http://schemas.microsoft.com/office/drawing/2014/main" id="{6AE12E71-1BB6-4AAD-A7F8-671A594878CE}"/>
              </a:ext>
            </a:extLst>
          </p:cNvPr>
          <p:cNvSpPr>
            <a:spLocks xmlns:a="http://schemas.openxmlformats.org/drawingml/2006/main" noGrp="1"/>
          </p:cNvSpPr>
          <p:nvPr/>
        </p:nvSpPr>
        <p:spPr>
          <a:xfrm xmlns:a="http://schemas.openxmlformats.org/drawingml/2006/main">
            <a:off x="609600" y="16192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End user</a:t>
            </a:r>
          </a:p>
        </p:txBody>
      </p:sp>
      <p:sp>
        <p:nvSpPr>
          <p:cNvPr id="5" name="text">
            <a:extLst xmlns:a="http://schemas.openxmlformats.org/drawingml/2006/main">
              <a:ext uri="{FF2B5EF4-FFF2-40B4-BE49-F238E27FC236}">
                <a16:creationId xmlns:a16="http://schemas.microsoft.com/office/drawing/2014/main" id="{A6AE515C-82C4-4F13-B7FE-7F4E8FA51D3A}"/>
              </a:ext>
            </a:extLst>
          </p:cNvPr>
          <p:cNvSpPr>
            <a:spLocks xmlns:a="http://schemas.openxmlformats.org/drawingml/2006/main" noGrp="1"/>
          </p:cNvSpPr>
          <p:nvPr/>
        </p:nvSpPr>
        <p:spPr>
          <a:xfrm xmlns:a="http://schemas.openxmlformats.org/drawingml/2006/main">
            <a:off x="609600" y="2057400"/>
            <a:ext cx="5238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63C3D"/>
                </a:solidFill>
                <a:latin typeface="DejaVu Sans"/>
                <a:ea typeface="DejaVu Sans"/>
                <a:cs typeface="DejaVu Sans"/>
              </a:defRPr>
            </a:defPPr>
          </a:lstStyle>
          <a:p xmlns:a="http://schemas.openxmlformats.org/drawingml/2006/main">
            <a:pPr algn="l">
              <a:buNone/>
              <a:defRPr sz="2550" b="1">
                <a:solidFill>
                  <a:srgbClr val="163C3D"/>
                </a:solidFill>
                <a:latin typeface="DejaVu Sans"/>
                <a:ea typeface="DejaVu Sans"/>
                <a:cs typeface="DejaVu Sans"/>
              </a:defRPr>
            </a:pPr>
            <a:r>
              <a:rPr sz="2550" b="1">
                <a:solidFill>
                  <a:srgbClr val="163C3D"/>
                </a:solidFill>
                <a:latin typeface="DejaVu Sans"/>
                <a:ea typeface="DejaVu Sans"/>
                <a:cs typeface="DejaVu Sans"/>
              </a:rPr>
              <a:t>Municipal planning and</a:t>
            </a:r>
          </a:p>
          <a:p xmlns:a="http://schemas.openxmlformats.org/drawingml/2006/main">
            <a:pPr algn="l">
              <a:buNone/>
              <a:defRPr sz="2550" b="1">
                <a:solidFill>
                  <a:srgbClr val="163C3D"/>
                </a:solidFill>
                <a:latin typeface="DejaVu Sans"/>
                <a:ea typeface="DejaVu Sans"/>
                <a:cs typeface="DejaVu Sans"/>
              </a:defRPr>
            </a:pPr>
            <a:r>
              <a:rPr sz="2550" b="1">
                <a:solidFill>
                  <a:srgbClr val="163C3D"/>
                </a:solidFill>
                <a:latin typeface="DejaVu Sans"/>
                <a:ea typeface="DejaVu Sans"/>
                <a:cs typeface="DejaVu Sans"/>
              </a:rPr>
              <a:t>environmental teams</a:t>
            </a:r>
          </a:p>
        </p:txBody>
      </p:sp>
      <p:sp>
        <p:nvSpPr>
          <p:cNvPr id="6" name="text">
            <a:extLst xmlns:a="http://schemas.openxmlformats.org/drawingml/2006/main">
              <a:ext uri="{FF2B5EF4-FFF2-40B4-BE49-F238E27FC236}">
                <a16:creationId xmlns:a16="http://schemas.microsoft.com/office/drawing/2014/main" id="{ADF8F1C7-4AD6-4C42-B18A-86FF5D847579}"/>
              </a:ext>
            </a:extLst>
          </p:cNvPr>
          <p:cNvSpPr>
            <a:spLocks xmlns:a="http://schemas.openxmlformats.org/drawingml/2006/main" noGrp="1"/>
          </p:cNvSpPr>
          <p:nvPr/>
        </p:nvSpPr>
        <p:spPr>
          <a:xfrm xmlns:a="http://schemas.openxmlformats.org/drawingml/2006/main">
            <a:off x="609600" y="36576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Decision</a:t>
            </a:r>
          </a:p>
        </p:txBody>
      </p:sp>
      <p:sp>
        <p:nvSpPr>
          <p:cNvPr id="7" name="text">
            <a:extLst xmlns:a="http://schemas.openxmlformats.org/drawingml/2006/main">
              <a:ext uri="{FF2B5EF4-FFF2-40B4-BE49-F238E27FC236}">
                <a16:creationId xmlns:a16="http://schemas.microsoft.com/office/drawing/2014/main" id="{D52EE0E0-B51C-4C29-819F-02DC0A579F7F}"/>
              </a:ext>
            </a:extLst>
          </p:cNvPr>
          <p:cNvSpPr>
            <a:spLocks xmlns:a="http://schemas.openxmlformats.org/drawingml/2006/main" noGrp="1"/>
          </p:cNvSpPr>
          <p:nvPr/>
        </p:nvSpPr>
        <p:spPr>
          <a:xfrm xmlns:a="http://schemas.openxmlformats.org/drawingml/2006/main">
            <a:off x="609600" y="4095750"/>
            <a:ext cx="51530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63C3D"/>
                </a:solidFill>
                <a:latin typeface="DejaVu Sans"/>
                <a:ea typeface="DejaVu Sans"/>
                <a:cs typeface="DejaVu Sans"/>
              </a:defRPr>
            </a:defPPr>
          </a:lstStyle>
          <a:p xmlns:a="http://schemas.openxmlformats.org/drawingml/2006/main">
            <a:pPr algn="l">
              <a:buNone/>
              <a:defRPr sz="2475" b="0">
                <a:solidFill>
                  <a:srgbClr val="163C3D"/>
                </a:solidFill>
                <a:latin typeface="DejaVu Sans"/>
                <a:ea typeface="DejaVu Sans"/>
                <a:cs typeface="DejaVu Sans"/>
              </a:defRPr>
            </a:pPr>
            <a:r>
              <a:rPr sz="2475" b="0">
                <a:solidFill>
                  <a:srgbClr val="163C3D"/>
                </a:solidFill>
                <a:latin typeface="DejaVu Sans"/>
                <a:ea typeface="DejaVu Sans"/>
                <a:cs typeface="DejaVu Sans"/>
              </a:rPr>
              <a:t>Which locations should receive a site assessment for cooling measures?</a:t>
            </a:r>
          </a:p>
        </p:txBody>
      </p:sp>
      <p:sp>
        <p:nvSpPr>
          <p:cNvPr id="8" name="text">
            <a:extLst xmlns:a="http://schemas.openxmlformats.org/drawingml/2006/main">
              <a:ext uri="{FF2B5EF4-FFF2-40B4-BE49-F238E27FC236}">
                <a16:creationId xmlns:a16="http://schemas.microsoft.com/office/drawing/2014/main" id="{F2C03171-3B14-4323-ABEA-4CF41402958A}"/>
              </a:ext>
            </a:extLst>
          </p:cNvPr>
          <p:cNvSpPr>
            <a:spLocks xmlns:a="http://schemas.openxmlformats.org/drawingml/2006/main" noGrp="1"/>
          </p:cNvSpPr>
          <p:nvPr/>
        </p:nvSpPr>
        <p:spPr>
          <a:xfrm xmlns:a="http://schemas.openxmlformats.org/drawingml/2006/main">
            <a:off x="6638925" y="16192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Evidence supplied by the PoC</a:t>
            </a:r>
          </a:p>
        </p:txBody>
      </p:sp>
      <p:sp>
        <p:nvSpPr>
          <p:cNvPr id="9" name="text">
            <a:extLst xmlns:a="http://schemas.openxmlformats.org/drawingml/2006/main">
              <a:ext uri="{FF2B5EF4-FFF2-40B4-BE49-F238E27FC236}">
                <a16:creationId xmlns:a16="http://schemas.microsoft.com/office/drawing/2014/main" id="{0F2CC73F-BD29-4B56-A03D-42B6EA990A17}"/>
              </a:ext>
            </a:extLst>
          </p:cNvPr>
          <p:cNvSpPr>
            <a:spLocks xmlns:a="http://schemas.openxmlformats.org/drawingml/2006/main" noGrp="1"/>
          </p:cNvSpPr>
          <p:nvPr/>
        </p:nvSpPr>
        <p:spPr>
          <a:xfrm xmlns:a="http://schemas.openxmlformats.org/drawingml/2006/main">
            <a:off x="6638925" y="2095500"/>
            <a:ext cx="4886325"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3C3D"/>
                </a:solidFill>
                <a:latin typeface="DejaVu Sans"/>
                <a:ea typeface="DejaVu Sans"/>
                <a:cs typeface="DejaVu Sans"/>
              </a:defRPr>
            </a:defPPr>
          </a:lstStyle>
          <a:p xmlns:a="http://schemas.openxmlformats.org/drawingml/2006/main">
            <a:pPr algn="l">
              <a:buNone/>
              <a:defRPr sz="2175" b="0">
                <a:solidFill>
                  <a:srgbClr val="163C3D"/>
                </a:solidFill>
                <a:latin typeface="DejaVu Sans"/>
                <a:ea typeface="DejaVu Sans"/>
                <a:cs typeface="DejaVu Sans"/>
              </a:defRPr>
            </a:pPr>
            <a:r>
              <a:rPr sz="2175" b="0">
                <a:solidFill>
                  <a:srgbClr val="163C3D"/>
                </a:solidFill>
                <a:latin typeface="DejaVu Sans"/>
                <a:ea typeface="DejaVu Sans"/>
                <a:cs typeface="DejaVu Sans"/>
              </a:rPr>
              <a:t>Observed surface heat</a:t>
            </a:r>
          </a:p>
          <a:p xmlns:a="http://schemas.openxmlformats.org/drawingml/2006/main">
            <a:pPr algn="l">
              <a:buNone/>
              <a:defRPr sz="2175" b="0">
                <a:solidFill>
                  <a:srgbClr val="163C3D"/>
                </a:solidFill>
                <a:latin typeface="DejaVu Sans"/>
                <a:ea typeface="DejaVu Sans"/>
                <a:cs typeface="DejaVu Sans"/>
              </a:defRPr>
            </a:pPr>
            <a:r>
              <a:rPr sz="2175" b="0">
                <a:solidFill>
                  <a:srgbClr val="163C3D"/>
                </a:solidFill>
                <a:latin typeface="DejaVu Sans"/>
                <a:ea typeface="DejaVu Sans"/>
                <a:cs typeface="DejaVu Sans"/>
              </a:rPr>
              <a:t>Broad vegetation signals</a:t>
            </a:r>
          </a:p>
          <a:p xmlns:a="http://schemas.openxmlformats.org/drawingml/2006/main">
            <a:pPr algn="l">
              <a:buNone/>
              <a:defRPr sz="2175" b="0">
                <a:solidFill>
                  <a:srgbClr val="163C3D"/>
                </a:solidFill>
                <a:latin typeface="DejaVu Sans"/>
                <a:ea typeface="DejaVu Sans"/>
                <a:cs typeface="DejaVu Sans"/>
              </a:defRPr>
            </a:pPr>
            <a:r>
              <a:rPr sz="2175" b="0">
                <a:solidFill>
                  <a:srgbClr val="163C3D"/>
                </a:solidFill>
                <a:latin typeface="DejaVu Sans"/>
                <a:ea typeface="DejaVu Sans"/>
                <a:cs typeface="DejaVu Sans"/>
              </a:rPr>
              <a:t>Dates and data provenance</a:t>
            </a:r>
          </a:p>
          <a:p xmlns:a="http://schemas.openxmlformats.org/drawingml/2006/main">
            <a:pPr algn="l">
              <a:buNone/>
              <a:defRPr sz="2175" b="0">
                <a:solidFill>
                  <a:srgbClr val="163C3D"/>
                </a:solidFill>
                <a:latin typeface="DejaVu Sans"/>
                <a:ea typeface="DejaVu Sans"/>
                <a:cs typeface="DejaVu Sans"/>
              </a:defRPr>
            </a:pPr>
            <a:r>
              <a:rPr sz="2175" b="0">
                <a:solidFill>
                  <a:srgbClr val="163C3D"/>
                </a:solidFill>
                <a:latin typeface="DejaVu Sans"/>
                <a:ea typeface="DejaVu Sans"/>
                <a:cs typeface="DejaVu Sans"/>
              </a:rPr>
              <a:t>Reason for each priority</a:t>
            </a:r>
          </a:p>
        </p:txBody>
      </p:sp>
      <p:sp>
        <p:nvSpPr>
          <p:cNvPr id="10" name="text">
            <a:extLst xmlns:a="http://schemas.openxmlformats.org/drawingml/2006/main">
              <a:ext uri="{FF2B5EF4-FFF2-40B4-BE49-F238E27FC236}">
                <a16:creationId xmlns:a16="http://schemas.microsoft.com/office/drawing/2014/main" id="{9A7C5139-376C-43C5-8793-672D005A7129}"/>
              </a:ext>
            </a:extLst>
          </p:cNvPr>
          <p:cNvSpPr>
            <a:spLocks xmlns:a="http://schemas.openxmlformats.org/drawingml/2006/main" noGrp="1"/>
          </p:cNvSpPr>
          <p:nvPr/>
        </p:nvSpPr>
        <p:spPr>
          <a:xfrm xmlns:a="http://schemas.openxmlformats.org/drawingml/2006/main">
            <a:off x="6638925" y="4619625"/>
            <a:ext cx="49053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45336"/>
                </a:solidFill>
                <a:latin typeface="DejaVu Sans"/>
                <a:ea typeface="DejaVu Sans"/>
                <a:cs typeface="DejaVu Sans"/>
              </a:defRPr>
            </a:defPPr>
          </a:lstStyle>
          <a:p xmlns:a="http://schemas.openxmlformats.org/drawingml/2006/main">
            <a:pPr algn="l">
              <a:buNone/>
              <a:defRPr sz="2025" b="1">
                <a:solidFill>
                  <a:srgbClr val="B45336"/>
                </a:solidFill>
                <a:latin typeface="DejaVu Sans"/>
                <a:ea typeface="DejaVu Sans"/>
                <a:cs typeface="DejaVu Sans"/>
              </a:defRPr>
            </a:pPr>
            <a:r>
              <a:rPr sz="2025" b="1">
                <a:solidFill>
                  <a:srgbClr val="B45336"/>
                </a:solidFill>
                <a:latin typeface="DejaVu Sans"/>
                <a:ea typeface="DejaVu Sans"/>
                <a:cs typeface="DejaVu Sans"/>
              </a:rPr>
              <a:t>Candidate measures: planting, shade, reflective roofs and cooler pavements.</a:t>
            </a:r>
          </a:p>
        </p:txBody>
      </p:sp>
      <p:sp>
        <p:nvSpPr>
          <p:cNvPr id="11" name="text">
            <a:extLst xmlns:a="http://schemas.openxmlformats.org/drawingml/2006/main">
              <a:ext uri="{FF2B5EF4-FFF2-40B4-BE49-F238E27FC236}">
                <a16:creationId xmlns:a16="http://schemas.microsoft.com/office/drawing/2014/main" id="{B5148029-F97F-40EB-A6DD-55EBB61505A1}"/>
              </a:ext>
            </a:extLst>
          </p:cNvPr>
          <p:cNvSpPr>
            <a:spLocks xmlns:a="http://schemas.openxmlformats.org/drawingml/2006/main" noGrp="1"/>
          </p:cNvSpPr>
          <p:nvPr/>
        </p:nvSpPr>
        <p:spPr>
          <a:xfrm xmlns:a="http://schemas.openxmlformats.org/drawingml/2006/main">
            <a:off x="609600" y="586740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6967"/>
                </a:solidFill>
                <a:latin typeface="DejaVu Sans"/>
                <a:ea typeface="DejaVu Sans"/>
                <a:cs typeface="DejaVu Sans"/>
              </a:defRPr>
            </a:defPPr>
          </a:lstStyle>
          <a:p xmlns:a="http://schemas.openxmlformats.org/drawingml/2006/main">
            <a:pPr algn="l">
              <a:buNone/>
              <a:defRPr sz="1500" b="0">
                <a:solidFill>
                  <a:srgbClr val="596967"/>
                </a:solidFill>
                <a:latin typeface="DejaVu Sans"/>
                <a:ea typeface="DejaVu Sans"/>
                <a:cs typeface="DejaVu Sans"/>
              </a:defRPr>
            </a:pPr>
            <a:r>
              <a:rPr sz="1500" b="0">
                <a:solidFill>
                  <a:srgbClr val="596967"/>
                </a:solidFill>
                <a:latin typeface="DejaVu Sans"/>
                <a:ea typeface="DejaVu Sans"/>
                <a:cs typeface="DejaVu Sans"/>
              </a:rPr>
              <a:t>Current-practice assumption: broad plans and separate imagery or site checks. Planner interviews are still needed.</a:t>
            </a:r>
          </a:p>
        </p:txBody>
      </p:sp>
    </p:spTree>
    <p:extLst>
      <p:ext uri="{BB962C8B-B14F-4D97-AF65-F5344CB8AC3E}">
        <p14:creationId xmlns:p14="http://schemas.microsoft.com/office/powerpoint/2010/main" val="2077534842"/>
      </p:ext>
    </p:extLst>
  </p:cSld>
</p:sld>
</file>

<file path=ppt/slides/slide4.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C91F34A-03CC-4624-BA37-9E6040ED8958}"/>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Data used in the reproducible example</a:t>
            </a:r>
          </a:p>
        </p:txBody>
      </p:sp>
      <p:sp>
        <p:nvSpPr>
          <p:cNvPr id="2" name="text">
            <a:extLst xmlns:a="http://schemas.openxmlformats.org/drawingml/2006/main">
              <a:ext uri="{FF2B5EF4-FFF2-40B4-BE49-F238E27FC236}">
                <a16:creationId xmlns:a16="http://schemas.microsoft.com/office/drawing/2014/main" id="{3E5B9E6F-F5F6-42FA-9329-CE9C232EA371}"/>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3FBEBABC-EE46-46CB-8642-E06F8C562EF5}"/>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04</a:t>
            </a:r>
          </a:p>
        </p:txBody>
      </p:sp>
      <p:graphicFrame>
        <p:nvGraphicFramePr>
          <p:cNvPr id="4" name="">
            <a:extLst xmlns:a="http://schemas.openxmlformats.org/drawingml/2006/main">
              <a:ext uri="{FF2B5EF4-FFF2-40B4-BE49-F238E27FC236}">
                <a16:creationId xmlns:a16="http://schemas.microsoft.com/office/drawing/2014/main" id="{87831D0D-00F1-46CE-B936-F248D5CF138A}"/>
              </a:ext>
            </a:extLst>
          </p:cNvPr>
          <p:cNvGraphicFramePr/>
          <p:nvPr/>
        </p:nvGraphicFramePr>
        <p:xfrm>
          <a:off xmlns:a="http://schemas.openxmlformats.org/drawingml/2006/main" x="609600" y="1514475"/>
          <a:ext xmlns:a="http://schemas.openxmlformats.org/drawingml/2006/main" cx="10972800" cy="3057525"/>
        </p:xfrm>
        <a:graphic xmlns:a="http://schemas.openxmlformats.org/drawingml/2006/main">
          <a:graphicData uri="http://schemas.openxmlformats.org/drawingml/2006/table">
            <a:tbl>
              <a:tblPr firstRow="0" bandRow="0"/>
              <a:tblGrid>
                <a:gridCol w="4476750"/>
                <a:gridCol w="6496050"/>
              </a:tblGrid>
              <a:tr h="533400">
                <a:tc>
                  <a:txBody>
                    <a:bodyPr lIns="142875" tIns="95250" rIns="142875" bIns="95250">
                      <a:noAutofit/>
                    </a:bodyPr>
                    <a:lstStyle/>
                    <a:p>
                      <a:r>
                        <a:rPr sz="1650" b="1">
                          <a:solidFill>
                            <a:srgbClr val="F6F2E9"/>
                          </a:solidFill>
                          <a:latin typeface="DejaVu Sans"/>
                          <a:ea typeface="DejaVu Sans"/>
                          <a:cs typeface="DejaVu Sans"/>
                        </a:rPr>
                        <a:t>Input</a:t>
                      </a:r>
                    </a:p>
                  </a:txBody>
                  <a:tcPr marL="91440" marR="91440" marT="45720" marB="45720" anchor="ctr">
                    <a:solidFill>
                      <a:srgbClr val="163C3D"/>
                    </a:solidFill>
                  </a:tcPr>
                </a:tc>
                <a:tc>
                  <a:txBody>
                    <a:bodyPr lIns="142875" tIns="95250" rIns="142875" bIns="95250">
                      <a:noAutofit/>
                    </a:bodyPr>
                    <a:lstStyle/>
                    <a:p>
                      <a:r>
                        <a:rPr sz="1650" b="1">
                          <a:solidFill>
                            <a:srgbClr val="F6F2E9"/>
                          </a:solidFill>
                          <a:latin typeface="DejaVu Sans"/>
                          <a:ea typeface="DejaVu Sans"/>
                          <a:cs typeface="DejaVu Sans"/>
                        </a:rPr>
                        <a:t>Observation and role</a:t>
                      </a:r>
                    </a:p>
                  </a:txBody>
                  <a:tcPr marL="91440" marR="91440" marT="45720" marB="45720" anchor="ctr">
                    <a:solidFill>
                      <a:srgbClr val="163C3D"/>
                    </a:solidFill>
                  </a:tcPr>
                </a:tc>
              </a:tr>
              <a:tr h="841375">
                <a:tc>
                  <a:txBody>
                    <a:bodyPr lIns="142875" tIns="95250" rIns="142875" bIns="95250">
                      <a:noAutofit/>
                    </a:bodyPr>
                    <a:lstStyle/>
                    <a:p>
                      <a:r>
                        <a:rPr sz="1800" b="1">
                          <a:solidFill>
                            <a:srgbClr val="163C3D"/>
                          </a:solidFill>
                          <a:latin typeface="DejaVu Sans"/>
                          <a:ea typeface="DejaVu Sans"/>
                          <a:cs typeface="DejaVu Sans"/>
                        </a:rPr>
                        <a:t>Landsat 8, Collection 2 Level-2</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11 June 2026 at 06:51 UTC</a:t>
                      </a:r>
                    </a:p>
                    <a:p>
                      <a:r>
                        <a:rPr sz="1800" b="0">
                          <a:solidFill>
                            <a:srgbClr val="163C3D"/>
                          </a:solidFill>
                          <a:latin typeface="DejaVu Sans"/>
                          <a:ea typeface="DejaVu Sans"/>
                          <a:cs typeface="DejaVu Sans"/>
                        </a:rPr>
                        <a:t>Observed land surface temperature</a:t>
                      </a:r>
                    </a:p>
                  </a:txBody>
                  <a:tcPr marL="91440" marR="91440" marT="45720" marB="45720" anchor="ctr">
                    <a:solidFill>
                      <a:srgbClr val="F6F2E9"/>
                    </a:solidFill>
                  </a:tcPr>
                </a:tc>
              </a:tr>
              <a:tr h="841375">
                <a:tc>
                  <a:txBody>
                    <a:bodyPr lIns="142875" tIns="95250" rIns="142875" bIns="95250">
                      <a:noAutofit/>
                    </a:bodyPr>
                    <a:lstStyle/>
                    <a:p>
                      <a:r>
                        <a:rPr sz="1800" b="1">
                          <a:solidFill>
                            <a:srgbClr val="163C3D"/>
                          </a:solidFill>
                          <a:latin typeface="DejaVu Sans"/>
                          <a:ea typeface="DejaVu Sans"/>
                          <a:cs typeface="DejaVu Sans"/>
                        </a:rPr>
                        <a:t>Sentinel-2B, Level-2A</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11 June 2026 at 06:46 UTC</a:t>
                      </a:r>
                    </a:p>
                    <a:p>
                      <a:r>
                        <a:rPr sz="1800" b="0">
                          <a:solidFill>
                            <a:srgbClr val="163C3D"/>
                          </a:solidFill>
                          <a:latin typeface="DejaVu Sans"/>
                          <a:ea typeface="DejaVu Sans"/>
                          <a:cs typeface="DejaVu Sans"/>
                        </a:rPr>
                        <a:t>Six reflectance bands and spectral indices</a:t>
                      </a:r>
                    </a:p>
                  </a:txBody>
                  <a:tcPr marL="91440" marR="91440" marT="45720" marB="45720" anchor="ctr">
                    <a:solidFill>
                      <a:srgbClr val="F6F2E9"/>
                    </a:solidFill>
                  </a:tcPr>
                </a:tc>
              </a:tr>
              <a:tr h="841375">
                <a:tc>
                  <a:txBody>
                    <a:bodyPr lIns="142875" tIns="95250" rIns="142875" bIns="95250">
                      <a:noAutofit/>
                    </a:bodyPr>
                    <a:lstStyle/>
                    <a:p>
                      <a:r>
                        <a:rPr sz="1800" b="1">
                          <a:solidFill>
                            <a:srgbClr val="163C3D"/>
                          </a:solidFill>
                          <a:latin typeface="DejaVu Sans"/>
                          <a:ea typeface="DejaVu Sans"/>
                          <a:cs typeface="DejaVu Sans"/>
                        </a:rPr>
                        <a:t>Independent study window</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100 cells at 100 m spacing</a:t>
                      </a:r>
                    </a:p>
                    <a:p>
                      <a:r>
                        <a:rPr sz="1800" b="0">
                          <a:solidFill>
                            <a:srgbClr val="163C3D"/>
                          </a:solidFill>
                          <a:latin typeface="DejaVu Sans"/>
                          <a:ea typeface="DejaVu Sans"/>
                          <a:cs typeface="DejaVu Sans"/>
                        </a:rPr>
                        <a:t>1 km × 1 km rectangle in Mussafah</a:t>
                      </a:r>
                    </a:p>
                  </a:txBody>
                  <a:tcPr marL="91440" marR="91440" marT="45720" marB="45720" anchor="ctr">
                    <a:solidFill>
                      <a:srgbClr val="F6F2E9"/>
                    </a:solidFill>
                  </a:tcPr>
                </a:tc>
              </a:tr>
            </a:tbl>
          </a:graphicData>
        </a:graphic>
      </p:graphicFrame>
      <p:sp>
        <p:nvSpPr>
          <p:cNvPr id="5" name="text">
            <a:extLst xmlns:a="http://schemas.openxmlformats.org/drawingml/2006/main">
              <a:ext uri="{FF2B5EF4-FFF2-40B4-BE49-F238E27FC236}">
                <a16:creationId xmlns:a16="http://schemas.microsoft.com/office/drawing/2014/main" id="{084BCCA3-FE5B-452D-8A65-E782365B9B0B}"/>
              </a:ext>
            </a:extLst>
          </p:cNvPr>
          <p:cNvSpPr>
            <a:spLocks xmlns:a="http://schemas.openxmlformats.org/drawingml/2006/main" noGrp="1"/>
          </p:cNvSpPr>
          <p:nvPr/>
        </p:nvSpPr>
        <p:spPr>
          <a:xfrm xmlns:a="http://schemas.openxmlformats.org/drawingml/2006/main">
            <a:off x="609600" y="49244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Hyperspectral status</a:t>
            </a:r>
          </a:p>
        </p:txBody>
      </p:sp>
      <p:sp>
        <p:nvSpPr>
          <p:cNvPr id="6" name="text">
            <a:extLst xmlns:a="http://schemas.openxmlformats.org/drawingml/2006/main">
              <a:ext uri="{FF2B5EF4-FFF2-40B4-BE49-F238E27FC236}">
                <a16:creationId xmlns:a16="http://schemas.microsoft.com/office/drawing/2014/main" id="{94A9EF59-0B59-4B6F-B53D-C351EAC20F85}"/>
              </a:ext>
            </a:extLst>
          </p:cNvPr>
          <p:cNvSpPr>
            <a:spLocks xmlns:a="http://schemas.openxmlformats.org/drawingml/2006/main" noGrp="1"/>
          </p:cNvSpPr>
          <p:nvPr/>
        </p:nvSpPr>
        <p:spPr>
          <a:xfrm xmlns:a="http://schemas.openxmlformats.org/drawingml/2006/main">
            <a:off x="609600" y="5334000"/>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45336"/>
                </a:solidFill>
                <a:latin typeface="DejaVu Sans"/>
                <a:ea typeface="DejaVu Sans"/>
                <a:cs typeface="DejaVu Sans"/>
              </a:defRPr>
            </a:defPPr>
          </a:lstStyle>
          <a:p xmlns:a="http://schemas.openxmlformats.org/drawingml/2006/main">
            <a:pPr algn="l">
              <a:buNone/>
              <a:defRPr sz="1950" b="0">
                <a:solidFill>
                  <a:srgbClr val="B45336"/>
                </a:solidFill>
                <a:latin typeface="DejaVu Sans"/>
                <a:ea typeface="DejaVu Sans"/>
                <a:cs typeface="DejaVu Sans"/>
              </a:defRPr>
            </a:pPr>
            <a:r>
              <a:rPr sz="1950" b="0">
                <a:solidFill>
                  <a:srgbClr val="B45336"/>
                </a:solidFill>
                <a:latin typeface="DejaVu Sans"/>
                <a:ea typeface="DejaVu Sans"/>
                <a:cs typeface="DejaVu Sans"/>
              </a:rPr>
              <a:t>No hyperspectral imagery contributes to these results. Satellite 813 access remains unconfirmed.</a:t>
            </a:r>
          </a:p>
        </p:txBody>
      </p:sp>
      <p:sp>
        <p:nvSpPr>
          <p:cNvPr id="7" name="text">
            <a:extLst xmlns:a="http://schemas.openxmlformats.org/drawingml/2006/main">
              <a:ext uri="{FF2B5EF4-FFF2-40B4-BE49-F238E27FC236}">
                <a16:creationId xmlns:a16="http://schemas.microsoft.com/office/drawing/2014/main" id="{0D431954-38B8-44D5-BE27-488F6DD3A15F}"/>
              </a:ext>
            </a:extLst>
          </p:cNvPr>
          <p:cNvSpPr>
            <a:spLocks xmlns:a="http://schemas.openxmlformats.org/drawingml/2006/main" noGrp="1"/>
          </p:cNvSpPr>
          <p:nvPr/>
        </p:nvSpPr>
        <p:spPr>
          <a:xfrm xmlns:a="http://schemas.openxmlformats.org/drawingml/2006/main">
            <a:off x="609600" y="6096000"/>
            <a:ext cx="1095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6967"/>
                </a:solidFill>
                <a:latin typeface="DejaVu Sans"/>
                <a:ea typeface="DejaVu Sans"/>
                <a:cs typeface="DejaVu Sans"/>
              </a:defRPr>
            </a:defPPr>
          </a:lstStyle>
          <a:p xmlns:a="http://schemas.openxmlformats.org/drawingml/2006/main">
            <a:pPr algn="l">
              <a:buNone/>
              <a:defRPr sz="1350" b="0">
                <a:solidFill>
                  <a:srgbClr val="596967"/>
                </a:solidFill>
                <a:latin typeface="DejaVu Sans"/>
                <a:ea typeface="DejaVu Sans"/>
                <a:cs typeface="DejaVu Sans"/>
              </a:defRPr>
            </a:pPr>
            <a:r>
              <a:rPr sz="1350" b="0">
                <a:solidFill>
                  <a:srgbClr val="596967"/>
                </a:solidFill>
                <a:latin typeface="DejaVu Sans"/>
                <a:ea typeface="DejaVu Sans"/>
                <a:cs typeface="DejaVu Sans"/>
              </a:rPr>
              <a:t>Sample starts after calibration and quality masking. Exact scene IDs and licences are in the README.</a:t>
            </a:r>
          </a:p>
        </p:txBody>
      </p:sp>
    </p:spTree>
    <p:extLst>
      <p:ext uri="{BB962C8B-B14F-4D97-AF65-F5344CB8AC3E}">
        <p14:creationId xmlns:p14="http://schemas.microsoft.com/office/powerpoint/2010/main" val="181570196"/>
      </p:ext>
    </p:extLst>
  </p:cSld>
</p:sld>
</file>

<file path=ppt/slides/slide5.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C0AD1961-0B91-4B24-B6B2-8AB48243541F}"/>
              </a:ext>
            </a:extLst>
          </p:cNvPr>
          <p:cNvCxnSpPr>
            <a:stCxn xmlns:a="http://schemas.openxmlformats.org/drawingml/2006/main" id="11" idx="3"/>
            <a:endCxn xmlns:a="http://schemas.openxmlformats.org/drawingml/2006/main" id="14" idx="1"/>
          </p:cNvCxnSpPr>
          <p:nvPr/>
        </p:nvCxnSpPr>
        <p:spPr>
          <a:xfrm xmlns:a="http://schemas.openxmlformats.org/drawingml/2006/main">
            <a:off x="8724900" y="3667125"/>
            <a:ext cx="371475" cy="0"/>
          </a:xfrm>
          <a:prstGeom xmlns:a="http://schemas.openxmlformats.org/drawingml/2006/main" prst="straightConnector1">
            <a:avLst/>
          </a:prstGeom>
          <a:ln xmlns:a="http://schemas.openxmlformats.org/drawingml/2006/main" w="19050">
            <a:solidFill>
              <a:srgbClr val="B45336"/>
            </a:solidFill>
            <a:tailEnd type="triangle" w="med" len="med"/>
          </a:ln>
        </p:spPr>
      </p:cxnSp>
      <p:cxnSp>
        <p:nvCxnSpPr>
          <p:cNvPr id="18" name="">
            <a:extLst xmlns:a="http://schemas.openxmlformats.org/drawingml/2006/main">
              <a:ext uri="{FF2B5EF4-FFF2-40B4-BE49-F238E27FC236}">
                <a16:creationId xmlns:a16="http://schemas.microsoft.com/office/drawing/2014/main" id="{4016683B-FE53-4A2C-AD4F-9002C566AA5F}"/>
              </a:ext>
            </a:extLst>
          </p:cNvPr>
          <p:cNvCxnSpPr>
            <a:stCxn xmlns:a="http://schemas.openxmlformats.org/drawingml/2006/main" id="8" idx="3"/>
            <a:endCxn xmlns:a="http://schemas.openxmlformats.org/drawingml/2006/main" id="11" idx="1"/>
          </p:cNvCxnSpPr>
          <p:nvPr/>
        </p:nvCxnSpPr>
        <p:spPr>
          <a:xfrm xmlns:a="http://schemas.openxmlformats.org/drawingml/2006/main">
            <a:off x="5895975" y="3667125"/>
            <a:ext cx="371475" cy="0"/>
          </a:xfrm>
          <a:prstGeom xmlns:a="http://schemas.openxmlformats.org/drawingml/2006/main" prst="straightConnector1">
            <a:avLst/>
          </a:prstGeom>
          <a:ln xmlns:a="http://schemas.openxmlformats.org/drawingml/2006/main" w="19050">
            <a:solidFill>
              <a:srgbClr val="B45336"/>
            </a:solidFill>
            <a:tailEnd type="triangle" w="med" len="med"/>
          </a:ln>
        </p:spPr>
      </p:cxnSp>
      <p:cxnSp>
        <p:nvCxnSpPr>
          <p:cNvPr id="17" name="">
            <a:extLst xmlns:a="http://schemas.openxmlformats.org/drawingml/2006/main">
              <a:ext uri="{FF2B5EF4-FFF2-40B4-BE49-F238E27FC236}">
                <a16:creationId xmlns:a16="http://schemas.microsoft.com/office/drawing/2014/main" id="{FBCD79BF-FC62-45F5-9E40-CA3A4C0AFB2F}"/>
              </a:ext>
            </a:extLst>
          </p:cNvPr>
          <p:cNvCxnSpPr>
            <a:stCxn xmlns:a="http://schemas.openxmlformats.org/drawingml/2006/main" id="5" idx="3"/>
            <a:endCxn xmlns:a="http://schemas.openxmlformats.org/drawingml/2006/main" id="8" idx="1"/>
          </p:cNvCxnSpPr>
          <p:nvPr/>
        </p:nvCxnSpPr>
        <p:spPr>
          <a:xfrm xmlns:a="http://schemas.openxmlformats.org/drawingml/2006/main">
            <a:off x="3067050" y="3667125"/>
            <a:ext cx="371475" cy="0"/>
          </a:xfrm>
          <a:prstGeom xmlns:a="http://schemas.openxmlformats.org/drawingml/2006/main" prst="straightConnector1">
            <a:avLst/>
          </a:prstGeom>
          <a:ln xmlns:a="http://schemas.openxmlformats.org/drawingml/2006/main" w="19050">
            <a:solidFill>
              <a:srgbClr val="B45336"/>
            </a:solidFill>
            <a:tailEnd type="triangle" w="med" len="med"/>
          </a:ln>
        </p:spPr>
      </p:cxnSp>
      <p:sp>
        <p:nvSpPr>
          <p:cNvPr id="22" name="title">
            <a:extLst xmlns:a="http://schemas.openxmlformats.org/drawingml/2006/main">
              <a:ext uri="{FF2B5EF4-FFF2-40B4-BE49-F238E27FC236}">
                <a16:creationId xmlns:a16="http://schemas.microsoft.com/office/drawing/2014/main" id="{AFCBD5FB-21E8-4FD4-A4AA-E78F5163B39B}"/>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The implemented workflow</a:t>
            </a:r>
          </a:p>
        </p:txBody>
      </p:sp>
      <p:sp>
        <p:nvSpPr>
          <p:cNvPr id="2" name="text">
            <a:extLst xmlns:a="http://schemas.openxmlformats.org/drawingml/2006/main">
              <a:ext uri="{FF2B5EF4-FFF2-40B4-BE49-F238E27FC236}">
                <a16:creationId xmlns:a16="http://schemas.microsoft.com/office/drawing/2014/main" id="{6D0089DF-C14C-4FFC-B0B4-281B8AE3D10B}"/>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3891CE7C-E807-4A8D-B139-CEE9F7ED780A}"/>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05</a:t>
            </a:r>
          </a:p>
        </p:txBody>
      </p:sp>
      <p:sp>
        <p:nvSpPr>
          <p:cNvPr id="4" name="text">
            <a:extLst xmlns:a="http://schemas.openxmlformats.org/drawingml/2006/main">
              <a:ext uri="{FF2B5EF4-FFF2-40B4-BE49-F238E27FC236}">
                <a16:creationId xmlns:a16="http://schemas.microsoft.com/office/drawing/2014/main" id="{70048ACC-79EE-497C-AF2E-8C8E606FF21F}"/>
              </a:ext>
            </a:extLst>
          </p:cNvPr>
          <p:cNvSpPr>
            <a:spLocks xmlns:a="http://schemas.openxmlformats.org/drawingml/2006/main" noGrp="1"/>
          </p:cNvSpPr>
          <p:nvPr/>
        </p:nvSpPr>
        <p:spPr>
          <a:xfrm xmlns:a="http://schemas.openxmlformats.org/drawingml/2006/main">
            <a:off x="609600" y="14573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96967"/>
                </a:solidFill>
                <a:latin typeface="DejaVu Sans"/>
                <a:ea typeface="DejaVu Sans"/>
                <a:cs typeface="DejaVu Sans"/>
              </a:defRPr>
            </a:defPPr>
          </a:lstStyle>
          <a:p xmlns:a="http://schemas.openxmlformats.org/drawingml/2006/main">
            <a:pPr algn="l">
              <a:buNone/>
              <a:defRPr sz="2100" b="0">
                <a:solidFill>
                  <a:srgbClr val="596967"/>
                </a:solidFill>
                <a:latin typeface="DejaVu Sans"/>
                <a:ea typeface="DejaVu Sans"/>
                <a:cs typeface="DejaVu Sans"/>
              </a:defRPr>
            </a:pPr>
            <a:r>
              <a:rPr sz="2100" b="0">
                <a:solidFill>
                  <a:srgbClr val="596967"/>
                </a:solidFill>
                <a:latin typeface="DejaVu Sans"/>
                <a:ea typeface="DejaVu Sans"/>
                <a:cs typeface="DejaVu Sans"/>
              </a:rPr>
              <a:t>The notebook runs from a small, prepared satellite sample.</a:t>
            </a:r>
          </a:p>
        </p:txBody>
      </p:sp>
      <p:sp>
        <p:nvSpPr>
          <p:cNvPr id="5" name="workflow-step-1">
            <a:extLst xmlns:a="http://schemas.openxmlformats.org/drawingml/2006/main">
              <a:ext uri="{FF2B5EF4-FFF2-40B4-BE49-F238E27FC236}">
                <a16:creationId xmlns:a16="http://schemas.microsoft.com/office/drawing/2014/main" id="{FE3F28BA-E54C-4BCB-A43E-964862862D47}"/>
              </a:ext>
            </a:extLst>
          </p:cNvPr>
          <p:cNvSpPr>
            <a:spLocks xmlns:a="http://schemas.openxmlformats.org/drawingml/2006/main" noGrp="1"/>
          </p:cNvSpPr>
          <p:nvPr/>
        </p:nvSpPr>
        <p:spPr>
          <a:xfrm xmlns:a="http://schemas.openxmlformats.org/drawingml/2006/main">
            <a:off x="609600" y="2667000"/>
            <a:ext cx="2457450" cy="2000250"/>
          </a:xfrm>
          <a:prstGeom xmlns:a="http://schemas.openxmlformats.org/drawingml/2006/main" prst="rect">
            <a:avLst/>
          </a:prstGeom>
          <a:solidFill xmlns:a="http://schemas.openxmlformats.org/drawingml/2006/main">
            <a:srgbClr val="D8E4DF"/>
          </a:solidFill>
          <a:ln xmlns:a="http://schemas.openxmlformats.org/drawingml/2006/main" w="14288">
            <a:solidFill>
              <a:srgbClr val="163C3D"/>
            </a:solidFill>
          </a:ln>
        </p:spPr>
      </p:sp>
      <p:sp>
        <p:nvSpPr>
          <p:cNvPr id="6" name="text">
            <a:extLst xmlns:a="http://schemas.openxmlformats.org/drawingml/2006/main">
              <a:ext uri="{FF2B5EF4-FFF2-40B4-BE49-F238E27FC236}">
                <a16:creationId xmlns:a16="http://schemas.microsoft.com/office/drawing/2014/main" id="{8766952F-C3D3-4992-AFB5-E77F74A91D6B}"/>
              </a:ext>
            </a:extLst>
          </p:cNvPr>
          <p:cNvSpPr>
            <a:spLocks xmlns:a="http://schemas.openxmlformats.org/drawingml/2006/main" noGrp="1"/>
          </p:cNvSpPr>
          <p:nvPr/>
        </p:nvSpPr>
        <p:spPr>
          <a:xfrm xmlns:a="http://schemas.openxmlformats.org/drawingml/2006/main">
            <a:off x="762000" y="2876550"/>
            <a:ext cx="2152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63C3D"/>
                </a:solidFill>
                <a:latin typeface="DejaVu Sans"/>
                <a:ea typeface="DejaVu Sans"/>
                <a:cs typeface="DejaVu Sans"/>
              </a:defRPr>
            </a:defPPr>
          </a:lstStyle>
          <a:p xmlns:a="http://schemas.openxmlformats.org/drawingml/2006/main">
            <a:pPr algn="l">
              <a:buNone/>
              <a:defRPr sz="1875" b="1">
                <a:solidFill>
                  <a:srgbClr val="163C3D"/>
                </a:solidFill>
                <a:latin typeface="DejaVu Sans"/>
                <a:ea typeface="DejaVu Sans"/>
                <a:cs typeface="DejaVu Sans"/>
              </a:defRPr>
            </a:pPr>
            <a:r>
              <a:rPr sz="1875" b="1">
                <a:solidFill>
                  <a:srgbClr val="163C3D"/>
                </a:solidFill>
                <a:latin typeface="DejaVu Sans"/>
                <a:ea typeface="DejaVu Sans"/>
                <a:cs typeface="DejaVu Sans"/>
              </a:rPr>
              <a:t>01  Load sample</a:t>
            </a:r>
          </a:p>
        </p:txBody>
      </p:sp>
      <p:sp>
        <p:nvSpPr>
          <p:cNvPr id="7" name="text">
            <a:extLst xmlns:a="http://schemas.openxmlformats.org/drawingml/2006/main">
              <a:ext uri="{FF2B5EF4-FFF2-40B4-BE49-F238E27FC236}">
                <a16:creationId xmlns:a16="http://schemas.microsoft.com/office/drawing/2014/main" id="{0DCB3CBC-F63E-494B-8074-3E6727A194FA}"/>
              </a:ext>
            </a:extLst>
          </p:cNvPr>
          <p:cNvSpPr>
            <a:spLocks xmlns:a="http://schemas.openxmlformats.org/drawingml/2006/main" noGrp="1"/>
          </p:cNvSpPr>
          <p:nvPr/>
        </p:nvSpPr>
        <p:spPr>
          <a:xfrm xmlns:a="http://schemas.openxmlformats.org/drawingml/2006/main">
            <a:off x="762000" y="3619500"/>
            <a:ext cx="2152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63C3D"/>
                </a:solidFill>
                <a:latin typeface="DejaVu Sans"/>
                <a:ea typeface="DejaVu Sans"/>
                <a:cs typeface="DejaVu Sans"/>
              </a:defRPr>
            </a:defPPr>
          </a:lstStyle>
          <a:p xmlns:a="http://schemas.openxmlformats.org/drawingml/2006/main">
            <a:pPr algn="l">
              <a:buNone/>
              <a:defRPr sz="1575" b="0">
                <a:solidFill>
                  <a:srgbClr val="163C3D"/>
                </a:solidFill>
                <a:latin typeface="DejaVu Sans"/>
                <a:ea typeface="DejaVu Sans"/>
                <a:cs typeface="DejaVu Sans"/>
              </a:defRPr>
            </a:pPr>
            <a:r>
              <a:rPr sz="1575" b="0">
                <a:solidFill>
                  <a:srgbClr val="163C3D"/>
                </a:solidFill>
                <a:latin typeface="DejaVu Sans"/>
                <a:ea typeface="DejaVu Sans"/>
                <a:cs typeface="DejaVu Sans"/>
              </a:rPr>
              <a:t>100 cells</a:t>
            </a:r>
          </a:p>
          <a:p xmlns:a="http://schemas.openxmlformats.org/drawingml/2006/main">
            <a:pPr algn="l">
              <a:buNone/>
              <a:defRPr sz="1575" b="0">
                <a:solidFill>
                  <a:srgbClr val="163C3D"/>
                </a:solidFill>
                <a:latin typeface="DejaVu Sans"/>
                <a:ea typeface="DejaVu Sans"/>
                <a:cs typeface="DejaVu Sans"/>
              </a:defRPr>
            </a:pPr>
            <a:r>
              <a:rPr sz="1575" b="0">
                <a:solidFill>
                  <a:srgbClr val="163C3D"/>
                </a:solidFill>
                <a:latin typeface="DejaVu Sans"/>
                <a:ea typeface="DejaVu Sans"/>
                <a:cs typeface="DejaVu Sans"/>
              </a:rPr>
              <a:t>Check dates and quality</a:t>
            </a:r>
          </a:p>
        </p:txBody>
      </p:sp>
      <p:sp>
        <p:nvSpPr>
          <p:cNvPr id="8" name="workflow-step-2">
            <a:extLst xmlns:a="http://schemas.openxmlformats.org/drawingml/2006/main">
              <a:ext uri="{FF2B5EF4-FFF2-40B4-BE49-F238E27FC236}">
                <a16:creationId xmlns:a16="http://schemas.microsoft.com/office/drawing/2014/main" id="{E546913A-D791-452E-9C6B-F056F738D4AB}"/>
              </a:ext>
            </a:extLst>
          </p:cNvPr>
          <p:cNvSpPr>
            <a:spLocks xmlns:a="http://schemas.openxmlformats.org/drawingml/2006/main" noGrp="1"/>
          </p:cNvSpPr>
          <p:nvPr/>
        </p:nvSpPr>
        <p:spPr>
          <a:xfrm xmlns:a="http://schemas.openxmlformats.org/drawingml/2006/main">
            <a:off x="3438525" y="2667000"/>
            <a:ext cx="2457450" cy="2000250"/>
          </a:xfrm>
          <a:prstGeom xmlns:a="http://schemas.openxmlformats.org/drawingml/2006/main" prst="rect">
            <a:avLst/>
          </a:prstGeom>
          <a:solidFill xmlns:a="http://schemas.openxmlformats.org/drawingml/2006/main">
            <a:srgbClr val="D8E4DF"/>
          </a:solidFill>
          <a:ln xmlns:a="http://schemas.openxmlformats.org/drawingml/2006/main" w="14288">
            <a:solidFill>
              <a:srgbClr val="163C3D"/>
            </a:solidFill>
          </a:ln>
        </p:spPr>
      </p:sp>
      <p:sp>
        <p:nvSpPr>
          <p:cNvPr id="9" name="text">
            <a:extLst xmlns:a="http://schemas.openxmlformats.org/drawingml/2006/main">
              <a:ext uri="{FF2B5EF4-FFF2-40B4-BE49-F238E27FC236}">
                <a16:creationId xmlns:a16="http://schemas.microsoft.com/office/drawing/2014/main" id="{EC80DC12-DFCA-4F81-A933-ED6C42C202E5}"/>
              </a:ext>
            </a:extLst>
          </p:cNvPr>
          <p:cNvSpPr>
            <a:spLocks xmlns:a="http://schemas.openxmlformats.org/drawingml/2006/main" noGrp="1"/>
          </p:cNvSpPr>
          <p:nvPr/>
        </p:nvSpPr>
        <p:spPr>
          <a:xfrm xmlns:a="http://schemas.openxmlformats.org/drawingml/2006/main">
            <a:off x="3590925" y="2876550"/>
            <a:ext cx="2152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63C3D"/>
                </a:solidFill>
                <a:latin typeface="DejaVu Sans"/>
                <a:ea typeface="DejaVu Sans"/>
                <a:cs typeface="DejaVu Sans"/>
              </a:defRPr>
            </a:defPPr>
          </a:lstStyle>
          <a:p xmlns:a="http://schemas.openxmlformats.org/drawingml/2006/main">
            <a:pPr algn="l">
              <a:buNone/>
              <a:defRPr sz="1875" b="1">
                <a:solidFill>
                  <a:srgbClr val="163C3D"/>
                </a:solidFill>
                <a:latin typeface="DejaVu Sans"/>
                <a:ea typeface="DejaVu Sans"/>
                <a:cs typeface="DejaVu Sans"/>
              </a:defRPr>
            </a:pPr>
            <a:r>
              <a:rPr sz="1875" b="1">
                <a:solidFill>
                  <a:srgbClr val="163C3D"/>
                </a:solidFill>
                <a:latin typeface="DejaVu Sans"/>
                <a:ea typeface="DejaVu Sans"/>
                <a:cs typeface="DejaVu Sans"/>
              </a:rPr>
              <a:t>02  Derive indices</a:t>
            </a:r>
          </a:p>
        </p:txBody>
      </p:sp>
      <p:sp>
        <p:nvSpPr>
          <p:cNvPr id="10" name="text">
            <a:extLst xmlns:a="http://schemas.openxmlformats.org/drawingml/2006/main">
              <a:ext uri="{FF2B5EF4-FFF2-40B4-BE49-F238E27FC236}">
                <a16:creationId xmlns:a16="http://schemas.microsoft.com/office/drawing/2014/main" id="{95A482AE-2B9A-4F0D-BCA2-0C231D0F8C82}"/>
              </a:ext>
            </a:extLst>
          </p:cNvPr>
          <p:cNvSpPr>
            <a:spLocks xmlns:a="http://schemas.openxmlformats.org/drawingml/2006/main" noGrp="1"/>
          </p:cNvSpPr>
          <p:nvPr/>
        </p:nvSpPr>
        <p:spPr>
          <a:xfrm xmlns:a="http://schemas.openxmlformats.org/drawingml/2006/main">
            <a:off x="3590925" y="3619500"/>
            <a:ext cx="2152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63C3D"/>
                </a:solidFill>
                <a:latin typeface="DejaVu Sans"/>
                <a:ea typeface="DejaVu Sans"/>
                <a:cs typeface="DejaVu Sans"/>
              </a:defRPr>
            </a:defPPr>
          </a:lstStyle>
          <a:p xmlns:a="http://schemas.openxmlformats.org/drawingml/2006/main">
            <a:pPr algn="l">
              <a:buNone/>
              <a:defRPr sz="1575" b="0">
                <a:solidFill>
                  <a:srgbClr val="163C3D"/>
                </a:solidFill>
                <a:latin typeface="DejaVu Sans"/>
                <a:ea typeface="DejaVu Sans"/>
                <a:cs typeface="DejaVu Sans"/>
              </a:defRPr>
            </a:pPr>
            <a:r>
              <a:rPr sz="1575" b="0">
                <a:solidFill>
                  <a:srgbClr val="163C3D"/>
                </a:solidFill>
                <a:latin typeface="DejaVu Sans"/>
                <a:ea typeface="DejaVu Sans"/>
                <a:cs typeface="DejaVu Sans"/>
              </a:rPr>
              <a:t>NDVI, NDBI</a:t>
            </a:r>
          </a:p>
          <a:p xmlns:a="http://schemas.openxmlformats.org/drawingml/2006/main">
            <a:pPr algn="l">
              <a:buNone/>
              <a:defRPr sz="1575" b="0">
                <a:solidFill>
                  <a:srgbClr val="163C3D"/>
                </a:solidFill>
                <a:latin typeface="DejaVu Sans"/>
                <a:ea typeface="DejaVu Sans"/>
                <a:cs typeface="DejaVu Sans"/>
              </a:defRPr>
            </a:pPr>
            <a:r>
              <a:rPr sz="1575" b="0">
                <a:solidFill>
                  <a:srgbClr val="163C3D"/>
                </a:solidFill>
                <a:latin typeface="DejaVu Sans"/>
                <a:ea typeface="DejaVu Sans"/>
                <a:cs typeface="DejaVu Sans"/>
              </a:rPr>
              <a:t>MNDWI, BSI</a:t>
            </a:r>
          </a:p>
        </p:txBody>
      </p:sp>
      <p:sp>
        <p:nvSpPr>
          <p:cNvPr id="11" name="workflow-step-3">
            <a:extLst xmlns:a="http://schemas.openxmlformats.org/drawingml/2006/main">
              <a:ext uri="{FF2B5EF4-FFF2-40B4-BE49-F238E27FC236}">
                <a16:creationId xmlns:a16="http://schemas.microsoft.com/office/drawing/2014/main" id="{7915C9F2-F1F7-4DF8-A4BD-CA8A8DB8B35A}"/>
              </a:ext>
            </a:extLst>
          </p:cNvPr>
          <p:cNvSpPr>
            <a:spLocks xmlns:a="http://schemas.openxmlformats.org/drawingml/2006/main" noGrp="1"/>
          </p:cNvSpPr>
          <p:nvPr/>
        </p:nvSpPr>
        <p:spPr>
          <a:xfrm xmlns:a="http://schemas.openxmlformats.org/drawingml/2006/main">
            <a:off x="6267450" y="2667000"/>
            <a:ext cx="2457450" cy="2000250"/>
          </a:xfrm>
          <a:prstGeom xmlns:a="http://schemas.openxmlformats.org/drawingml/2006/main" prst="rect">
            <a:avLst/>
          </a:prstGeom>
          <a:solidFill xmlns:a="http://schemas.openxmlformats.org/drawingml/2006/main">
            <a:srgbClr val="D8E4DF"/>
          </a:solidFill>
          <a:ln xmlns:a="http://schemas.openxmlformats.org/drawingml/2006/main" w="14288">
            <a:solidFill>
              <a:srgbClr val="163C3D"/>
            </a:solidFill>
          </a:ln>
        </p:spPr>
      </p:sp>
      <p:sp>
        <p:nvSpPr>
          <p:cNvPr id="12" name="text">
            <a:extLst xmlns:a="http://schemas.openxmlformats.org/drawingml/2006/main">
              <a:ext uri="{FF2B5EF4-FFF2-40B4-BE49-F238E27FC236}">
                <a16:creationId xmlns:a16="http://schemas.microsoft.com/office/drawing/2014/main" id="{67483377-3F42-4652-9D05-7F88A5FE52B0}"/>
              </a:ext>
            </a:extLst>
          </p:cNvPr>
          <p:cNvSpPr>
            <a:spLocks xmlns:a="http://schemas.openxmlformats.org/drawingml/2006/main" noGrp="1"/>
          </p:cNvSpPr>
          <p:nvPr/>
        </p:nvSpPr>
        <p:spPr>
          <a:xfrm xmlns:a="http://schemas.openxmlformats.org/drawingml/2006/main">
            <a:off x="6419850" y="2876550"/>
            <a:ext cx="2152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63C3D"/>
                </a:solidFill>
                <a:latin typeface="DejaVu Sans"/>
                <a:ea typeface="DejaVu Sans"/>
                <a:cs typeface="DejaVu Sans"/>
              </a:defRPr>
            </a:defPPr>
          </a:lstStyle>
          <a:p xmlns:a="http://schemas.openxmlformats.org/drawingml/2006/main">
            <a:pPr algn="l">
              <a:buNone/>
              <a:defRPr sz="1875" b="1">
                <a:solidFill>
                  <a:srgbClr val="163C3D"/>
                </a:solidFill>
                <a:latin typeface="DejaVu Sans"/>
                <a:ea typeface="DejaVu Sans"/>
                <a:cs typeface="DejaVu Sans"/>
              </a:defRPr>
            </a:pPr>
            <a:r>
              <a:rPr sz="1875" b="1">
                <a:solidFill>
                  <a:srgbClr val="163C3D"/>
                </a:solidFill>
                <a:latin typeface="DejaVu Sans"/>
                <a:ea typeface="DejaVu Sans"/>
                <a:cs typeface="DejaVu Sans"/>
              </a:rPr>
              <a:t>03  Rank and test</a:t>
            </a:r>
          </a:p>
        </p:txBody>
      </p:sp>
      <p:sp>
        <p:nvSpPr>
          <p:cNvPr id="13" name="text">
            <a:extLst xmlns:a="http://schemas.openxmlformats.org/drawingml/2006/main">
              <a:ext uri="{FF2B5EF4-FFF2-40B4-BE49-F238E27FC236}">
                <a16:creationId xmlns:a16="http://schemas.microsoft.com/office/drawing/2014/main" id="{5BDC55D0-D511-44BF-9870-3FC22F8EC59D}"/>
              </a:ext>
            </a:extLst>
          </p:cNvPr>
          <p:cNvSpPr>
            <a:spLocks xmlns:a="http://schemas.openxmlformats.org/drawingml/2006/main" noGrp="1"/>
          </p:cNvSpPr>
          <p:nvPr/>
        </p:nvSpPr>
        <p:spPr>
          <a:xfrm xmlns:a="http://schemas.openxmlformats.org/drawingml/2006/main">
            <a:off x="6419850" y="3619500"/>
            <a:ext cx="2152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63C3D"/>
                </a:solidFill>
                <a:latin typeface="DejaVu Sans"/>
                <a:ea typeface="DejaVu Sans"/>
                <a:cs typeface="DejaVu Sans"/>
              </a:defRPr>
            </a:defPPr>
          </a:lstStyle>
          <a:p xmlns:a="http://schemas.openxmlformats.org/drawingml/2006/main">
            <a:pPr algn="l">
              <a:buNone/>
              <a:defRPr sz="1575" b="0">
                <a:solidFill>
                  <a:srgbClr val="163C3D"/>
                </a:solidFill>
                <a:latin typeface="DejaVu Sans"/>
                <a:ea typeface="DejaVu Sans"/>
                <a:cs typeface="DejaVu Sans"/>
              </a:defRPr>
            </a:pPr>
            <a:r>
              <a:rPr sz="1575" b="0">
                <a:solidFill>
                  <a:srgbClr val="163C3D"/>
                </a:solidFill>
                <a:latin typeface="DejaVu Sans"/>
                <a:ea typeface="DejaVu Sans"/>
                <a:cs typeface="DejaVu Sans"/>
              </a:rPr>
              <a:t>Heat percentiles</a:t>
            </a:r>
          </a:p>
          <a:p xmlns:a="http://schemas.openxmlformats.org/drawingml/2006/main">
            <a:pPr algn="l">
              <a:buNone/>
              <a:defRPr sz="1575" b="0">
                <a:solidFill>
                  <a:srgbClr val="163C3D"/>
                </a:solidFill>
                <a:latin typeface="DejaVu Sans"/>
                <a:ea typeface="DejaVu Sans"/>
                <a:cs typeface="DejaVu Sans"/>
              </a:defRPr>
            </a:pPr>
            <a:r>
              <a:rPr sz="1575" b="0">
                <a:solidFill>
                  <a:srgbClr val="163C3D"/>
                </a:solidFill>
                <a:latin typeface="DejaVu Sans"/>
                <a:ea typeface="DejaVu Sans"/>
                <a:cs typeface="DejaVu Sans"/>
              </a:rPr>
              <a:t>Spatial test folds</a:t>
            </a:r>
          </a:p>
        </p:txBody>
      </p:sp>
      <p:sp>
        <p:nvSpPr>
          <p:cNvPr id="14" name="workflow-step-4">
            <a:extLst xmlns:a="http://schemas.openxmlformats.org/drawingml/2006/main">
              <a:ext uri="{FF2B5EF4-FFF2-40B4-BE49-F238E27FC236}">
                <a16:creationId xmlns:a16="http://schemas.microsoft.com/office/drawing/2014/main" id="{34A35F23-ED65-4992-8979-3C51B6C7C77B}"/>
              </a:ext>
            </a:extLst>
          </p:cNvPr>
          <p:cNvSpPr>
            <a:spLocks xmlns:a="http://schemas.openxmlformats.org/drawingml/2006/main" noGrp="1"/>
          </p:cNvSpPr>
          <p:nvPr/>
        </p:nvSpPr>
        <p:spPr>
          <a:xfrm xmlns:a="http://schemas.openxmlformats.org/drawingml/2006/main">
            <a:off x="9096375" y="2667000"/>
            <a:ext cx="2457450" cy="2000250"/>
          </a:xfrm>
          <a:prstGeom xmlns:a="http://schemas.openxmlformats.org/drawingml/2006/main" prst="rect">
            <a:avLst/>
          </a:prstGeom>
          <a:solidFill xmlns:a="http://schemas.openxmlformats.org/drawingml/2006/main">
            <a:srgbClr val="D8E4DF"/>
          </a:solidFill>
          <a:ln xmlns:a="http://schemas.openxmlformats.org/drawingml/2006/main" w="14288">
            <a:solidFill>
              <a:srgbClr val="163C3D"/>
            </a:solidFill>
          </a:ln>
        </p:spPr>
      </p:sp>
      <p:sp>
        <p:nvSpPr>
          <p:cNvPr id="15" name="text">
            <a:extLst xmlns:a="http://schemas.openxmlformats.org/drawingml/2006/main">
              <a:ext uri="{FF2B5EF4-FFF2-40B4-BE49-F238E27FC236}">
                <a16:creationId xmlns:a16="http://schemas.microsoft.com/office/drawing/2014/main" id="{5A4D50E2-9844-4177-BF40-FAA58880EAF8}"/>
              </a:ext>
            </a:extLst>
          </p:cNvPr>
          <p:cNvSpPr>
            <a:spLocks xmlns:a="http://schemas.openxmlformats.org/drawingml/2006/main" noGrp="1"/>
          </p:cNvSpPr>
          <p:nvPr/>
        </p:nvSpPr>
        <p:spPr>
          <a:xfrm xmlns:a="http://schemas.openxmlformats.org/drawingml/2006/main">
            <a:off x="9248775" y="2876550"/>
            <a:ext cx="2152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63C3D"/>
                </a:solidFill>
                <a:latin typeface="DejaVu Sans"/>
                <a:ea typeface="DejaVu Sans"/>
                <a:cs typeface="DejaVu Sans"/>
              </a:defRPr>
            </a:defPPr>
          </a:lstStyle>
          <a:p xmlns:a="http://schemas.openxmlformats.org/drawingml/2006/main">
            <a:pPr algn="l">
              <a:buNone/>
              <a:defRPr sz="1875" b="1">
                <a:solidFill>
                  <a:srgbClr val="163C3D"/>
                </a:solidFill>
                <a:latin typeface="DejaVu Sans"/>
                <a:ea typeface="DejaVu Sans"/>
                <a:cs typeface="DejaVu Sans"/>
              </a:defRPr>
            </a:pPr>
            <a:r>
              <a:rPr sz="1875" b="1">
                <a:solidFill>
                  <a:srgbClr val="163C3D"/>
                </a:solidFill>
                <a:latin typeface="DejaVu Sans"/>
                <a:ea typeface="DejaVu Sans"/>
                <a:cs typeface="DejaVu Sans"/>
              </a:rPr>
              <a:t>04  Export evidence</a:t>
            </a:r>
          </a:p>
        </p:txBody>
      </p:sp>
      <p:sp>
        <p:nvSpPr>
          <p:cNvPr id="16" name="text">
            <a:extLst xmlns:a="http://schemas.openxmlformats.org/drawingml/2006/main">
              <a:ext uri="{FF2B5EF4-FFF2-40B4-BE49-F238E27FC236}">
                <a16:creationId xmlns:a16="http://schemas.microsoft.com/office/drawing/2014/main" id="{1B786DA7-1BB3-451D-8977-0B0424E05CF0}"/>
              </a:ext>
            </a:extLst>
          </p:cNvPr>
          <p:cNvSpPr>
            <a:spLocks xmlns:a="http://schemas.openxmlformats.org/drawingml/2006/main" noGrp="1"/>
          </p:cNvSpPr>
          <p:nvPr/>
        </p:nvSpPr>
        <p:spPr>
          <a:xfrm xmlns:a="http://schemas.openxmlformats.org/drawingml/2006/main">
            <a:off x="9248775" y="3619500"/>
            <a:ext cx="2152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63C3D"/>
                </a:solidFill>
                <a:latin typeface="DejaVu Sans"/>
                <a:ea typeface="DejaVu Sans"/>
                <a:cs typeface="DejaVu Sans"/>
              </a:defRPr>
            </a:defPPr>
          </a:lstStyle>
          <a:p xmlns:a="http://schemas.openxmlformats.org/drawingml/2006/main">
            <a:pPr algn="l">
              <a:buNone/>
              <a:defRPr sz="1575" b="0">
                <a:solidFill>
                  <a:srgbClr val="163C3D"/>
                </a:solidFill>
                <a:latin typeface="DejaVu Sans"/>
                <a:ea typeface="DejaVu Sans"/>
                <a:cs typeface="DejaVu Sans"/>
              </a:defRPr>
            </a:pPr>
            <a:r>
              <a:rPr sz="1575" b="0">
                <a:solidFill>
                  <a:srgbClr val="163C3D"/>
                </a:solidFill>
                <a:latin typeface="DejaVu Sans"/>
                <a:ea typeface="DejaVu Sans"/>
                <a:cs typeface="DejaVu Sans"/>
              </a:rPr>
              <a:t>Maps and table</a:t>
            </a:r>
          </a:p>
          <a:p xmlns:a="http://schemas.openxmlformats.org/drawingml/2006/main">
            <a:pPr algn="l">
              <a:buNone/>
              <a:defRPr sz="1575" b="0">
                <a:solidFill>
                  <a:srgbClr val="163C3D"/>
                </a:solidFill>
                <a:latin typeface="DejaVu Sans"/>
                <a:ea typeface="DejaVu Sans"/>
                <a:cs typeface="DejaVu Sans"/>
              </a:defRPr>
            </a:pPr>
            <a:r>
              <a:rPr sz="1575" b="0">
                <a:solidFill>
                  <a:srgbClr val="163C3D"/>
                </a:solidFill>
                <a:latin typeface="DejaVu Sans"/>
                <a:ea typeface="DejaVu Sans"/>
                <a:cs typeface="DejaVu Sans"/>
              </a:rPr>
              <a:t>Interactive HTML</a:t>
            </a:r>
          </a:p>
        </p:txBody>
      </p:sp>
      <p:sp>
        <p:nvSpPr>
          <p:cNvPr id="20" name="text">
            <a:extLst xmlns:a="http://schemas.openxmlformats.org/drawingml/2006/main">
              <a:ext uri="{FF2B5EF4-FFF2-40B4-BE49-F238E27FC236}">
                <a16:creationId xmlns:a16="http://schemas.microsoft.com/office/drawing/2014/main" id="{EC51CED9-22BF-4BA6-A7BE-EE8BD0899EC7}"/>
              </a:ext>
            </a:extLst>
          </p:cNvPr>
          <p:cNvSpPr>
            <a:spLocks xmlns:a="http://schemas.openxmlformats.org/drawingml/2006/main" noGrp="1"/>
          </p:cNvSpPr>
          <p:nvPr/>
        </p:nvSpPr>
        <p:spPr>
          <a:xfrm xmlns:a="http://schemas.openxmlformats.org/drawingml/2006/main">
            <a:off x="609600" y="49911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3C3D"/>
                </a:solidFill>
                <a:latin typeface="DejaVu Sans"/>
                <a:ea typeface="DejaVu Sans"/>
                <a:cs typeface="DejaVu Sans"/>
              </a:defRPr>
            </a:defPPr>
          </a:lstStyle>
          <a:p xmlns:a="http://schemas.openxmlformats.org/drawingml/2006/main">
            <a:pPr algn="l">
              <a:buNone/>
              <a:defRPr sz="2025" b="0">
                <a:solidFill>
                  <a:srgbClr val="163C3D"/>
                </a:solidFill>
                <a:latin typeface="DejaVu Sans"/>
                <a:ea typeface="DejaVu Sans"/>
                <a:cs typeface="DejaVu Sans"/>
              </a:defRPr>
            </a:pPr>
            <a:r>
              <a:rPr sz="2025" b="0">
                <a:solidFill>
                  <a:srgbClr val="163C3D"/>
                </a:solidFill>
                <a:latin typeface="DejaVu Sans"/>
                <a:ea typeface="DejaVu Sans"/>
                <a:cs typeface="DejaVu Sans"/>
              </a:rPr>
              <a:t>Mean baseline, linear regression and random forest share the same four spatial test folds. Seed = 42.</a:t>
            </a:r>
          </a:p>
        </p:txBody>
      </p:sp>
      <p:sp>
        <p:nvSpPr>
          <p:cNvPr id="21" name="text">
            <a:extLst xmlns:a="http://schemas.openxmlformats.org/drawingml/2006/main">
              <a:ext uri="{FF2B5EF4-FFF2-40B4-BE49-F238E27FC236}">
                <a16:creationId xmlns:a16="http://schemas.microsoft.com/office/drawing/2014/main" id="{2460FF30-8361-4CA1-9F79-51BA46C12B32}"/>
              </a:ext>
            </a:extLst>
          </p:cNvPr>
          <p:cNvSpPr>
            <a:spLocks xmlns:a="http://schemas.openxmlformats.org/drawingml/2006/main" noGrp="1"/>
          </p:cNvSpPr>
          <p:nvPr/>
        </p:nvSpPr>
        <p:spPr>
          <a:xfrm xmlns:a="http://schemas.openxmlformats.org/drawingml/2006/main">
            <a:off x="609600" y="587692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45336"/>
                </a:solidFill>
                <a:latin typeface="DejaVu Sans"/>
                <a:ea typeface="DejaVu Sans"/>
                <a:cs typeface="DejaVu Sans"/>
              </a:defRPr>
            </a:defPPr>
          </a:lstStyle>
          <a:p xmlns:a="http://schemas.openxmlformats.org/drawingml/2006/main">
            <a:pPr algn="l">
              <a:buNone/>
              <a:defRPr sz="1725" b="0">
                <a:solidFill>
                  <a:srgbClr val="B45336"/>
                </a:solidFill>
                <a:latin typeface="DejaVu Sans"/>
                <a:ea typeface="DejaVu Sans"/>
                <a:cs typeface="DejaVu Sans"/>
              </a:defRPr>
            </a:pPr>
            <a:r>
              <a:rPr sz="1725" b="0">
                <a:solidFill>
                  <a:srgbClr val="B45336"/>
                </a:solidFill>
                <a:latin typeface="DejaVu Sans"/>
                <a:ea typeface="DejaVu Sans"/>
                <a:cs typeface="DejaVu Sans"/>
              </a:rPr>
              <a:t>Raw-scene acquisition and preprocessing sit outside this offline example.</a:t>
            </a:r>
          </a:p>
        </p:txBody>
      </p:sp>
    </p:spTree>
    <p:extLst>
      <p:ext uri="{BB962C8B-B14F-4D97-AF65-F5344CB8AC3E}">
        <p14:creationId xmlns:p14="http://schemas.microsoft.com/office/powerpoint/2010/main" val="1582185821"/>
      </p:ext>
    </p:extLst>
  </p:cSld>
</p:sld>
</file>

<file path=ppt/slides/slide6.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9C7A6F13-BC4E-436D-8455-CA9A041A5FBF}"/>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Observed surface temperature</a:t>
            </a:r>
          </a:p>
        </p:txBody>
      </p:sp>
      <p:sp>
        <p:nvSpPr>
          <p:cNvPr id="2" name="text">
            <a:extLst xmlns:a="http://schemas.openxmlformats.org/drawingml/2006/main">
              <a:ext uri="{FF2B5EF4-FFF2-40B4-BE49-F238E27FC236}">
                <a16:creationId xmlns:a16="http://schemas.microsoft.com/office/drawing/2014/main" id="{59E00240-CA4B-4487-9780-E8AEA28E55AB}"/>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639E5C85-403A-4435-87A8-29D7FEDF4D8F}"/>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06</a:t>
            </a:r>
          </a:p>
        </p:txBody>
      </p:sp>
      <p:pic>
        <p:nvPicPr>
          <p:cNvPr id="4" name="">
            <a:extLst xmlns:a="http://schemas.openxmlformats.org/drawingml/2006/main">
              <a:ext uri="{FF2B5EF4-FFF2-40B4-BE49-F238E27FC236}">
                <a16:creationId xmlns:a16="http://schemas.microsoft.com/office/drawing/2014/main" id="{C29DA2FD-9B74-4AD7-A096-4D4E734A2462}"/>
              </a:ext>
            </a:extLst>
          </p:cNvPr>
          <p:cNvPicPr>
            <a:picLocks xmlns:a="http://schemas.openxmlformats.org/drawingml/2006/main" noChangeAspect="1"/>
          </p:cNvPicPr>
          <p:nvPr/>
        </p:nvPicPr>
        <p:blipFill>
          <a:blip xmlns:r="http://schemas.openxmlformats.org/officeDocument/2006/relationships" xmlns:a="http://schemas.openxmlformats.org/drawingml/2006/main" r:embed="R0d8497095cc441c0"/>
          <a:stretch xmlns:a="http://schemas.openxmlformats.org/drawingml/2006/main"/>
        </p:blipFill>
        <p:spPr>
          <a:xfrm xmlns:a="http://schemas.openxmlformats.org/drawingml/2006/main">
            <a:off x="991675" y="1314450"/>
            <a:ext cx="6255774" cy="4848225"/>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0DFE838A-E800-46B5-B44F-73948AA0D368}"/>
              </a:ext>
            </a:extLst>
          </p:cNvPr>
          <p:cNvSpPr>
            <a:spLocks xmlns:a="http://schemas.openxmlformats.org/drawingml/2006/main" noGrp="1"/>
          </p:cNvSpPr>
          <p:nvPr/>
        </p:nvSpPr>
        <p:spPr>
          <a:xfrm xmlns:a="http://schemas.openxmlformats.org/drawingml/2006/main">
            <a:off x="80581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11 June 2026</a:t>
            </a:r>
          </a:p>
        </p:txBody>
      </p:sp>
      <p:sp>
        <p:nvSpPr>
          <p:cNvPr id="6" name="text">
            <a:extLst xmlns:a="http://schemas.openxmlformats.org/drawingml/2006/main">
              <a:ext uri="{FF2B5EF4-FFF2-40B4-BE49-F238E27FC236}">
                <a16:creationId xmlns:a16="http://schemas.microsoft.com/office/drawing/2014/main" id="{37FD6572-6F51-4B09-82AF-309A6D4473F5}"/>
              </a:ext>
            </a:extLst>
          </p:cNvPr>
          <p:cNvSpPr>
            <a:spLocks xmlns:a="http://schemas.openxmlformats.org/drawingml/2006/main" noGrp="1"/>
          </p:cNvSpPr>
          <p:nvPr/>
        </p:nvSpPr>
        <p:spPr>
          <a:xfrm xmlns:a="http://schemas.openxmlformats.org/drawingml/2006/main">
            <a:off x="8039100" y="2152650"/>
            <a:ext cx="3524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3C3D"/>
                </a:solidFill>
                <a:latin typeface="DejaVu Sans"/>
                <a:ea typeface="DejaVu Sans"/>
                <a:cs typeface="DejaVu Sans"/>
              </a:defRPr>
            </a:defPPr>
          </a:lstStyle>
          <a:p xmlns:a="http://schemas.openxmlformats.org/drawingml/2006/main">
            <a:pPr algn="l">
              <a:buNone/>
              <a:defRPr sz="3000" b="1">
                <a:solidFill>
                  <a:srgbClr val="163C3D"/>
                </a:solidFill>
                <a:latin typeface="DejaVu Sans"/>
                <a:ea typeface="DejaVu Sans"/>
                <a:cs typeface="DejaVu Sans"/>
              </a:defRPr>
            </a:pPr>
            <a:r>
              <a:rPr sz="3000" b="1">
                <a:solidFill>
                  <a:srgbClr val="163C3D"/>
                </a:solidFill>
                <a:latin typeface="DejaVu Sans"/>
                <a:ea typeface="DejaVu Sans"/>
                <a:cs typeface="DejaVu Sans"/>
              </a:rPr>
              <a:t>53.04–55.96 °C</a:t>
            </a:r>
          </a:p>
        </p:txBody>
      </p:sp>
      <p:sp>
        <p:nvSpPr>
          <p:cNvPr id="7" name="text">
            <a:extLst xmlns:a="http://schemas.openxmlformats.org/drawingml/2006/main">
              <a:ext uri="{FF2B5EF4-FFF2-40B4-BE49-F238E27FC236}">
                <a16:creationId xmlns:a16="http://schemas.microsoft.com/office/drawing/2014/main" id="{12A8071A-8ADC-4584-8C68-FA769351E748}"/>
              </a:ext>
            </a:extLst>
          </p:cNvPr>
          <p:cNvSpPr>
            <a:spLocks xmlns:a="http://schemas.openxmlformats.org/drawingml/2006/main" noGrp="1"/>
          </p:cNvSpPr>
          <p:nvPr/>
        </p:nvSpPr>
        <p:spPr>
          <a:xfrm xmlns:a="http://schemas.openxmlformats.org/drawingml/2006/main">
            <a:off x="8067675" y="2933700"/>
            <a:ext cx="3486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967"/>
                </a:solidFill>
                <a:latin typeface="DejaVu Sans"/>
                <a:ea typeface="DejaVu Sans"/>
                <a:cs typeface="DejaVu Sans"/>
              </a:defRPr>
            </a:defPPr>
          </a:lstStyle>
          <a:p xmlns:a="http://schemas.openxmlformats.org/drawingml/2006/main">
            <a:pPr algn="l">
              <a:buNone/>
              <a:defRPr sz="1800" b="0">
                <a:solidFill>
                  <a:srgbClr val="596967"/>
                </a:solidFill>
                <a:latin typeface="DejaVu Sans"/>
                <a:ea typeface="DejaVu Sans"/>
                <a:cs typeface="DejaVu Sans"/>
              </a:defRPr>
            </a:pPr>
            <a:r>
              <a:rPr sz="1800" b="0">
                <a:solidFill>
                  <a:srgbClr val="596967"/>
                </a:solidFill>
                <a:latin typeface="DejaVu Sans"/>
                <a:ea typeface="DejaVu Sans"/>
                <a:cs typeface="DejaVu Sans"/>
              </a:rPr>
              <a:t>Observed range</a:t>
            </a:r>
          </a:p>
        </p:txBody>
      </p:sp>
      <p:sp>
        <p:nvSpPr>
          <p:cNvPr id="8" name="text">
            <a:extLst xmlns:a="http://schemas.openxmlformats.org/drawingml/2006/main">
              <a:ext uri="{FF2B5EF4-FFF2-40B4-BE49-F238E27FC236}">
                <a16:creationId xmlns:a16="http://schemas.microsoft.com/office/drawing/2014/main" id="{FB890C16-033F-4221-9482-ECCA31D9FBBF}"/>
              </a:ext>
            </a:extLst>
          </p:cNvPr>
          <p:cNvSpPr>
            <a:spLocks xmlns:a="http://schemas.openxmlformats.org/drawingml/2006/main" noGrp="1"/>
          </p:cNvSpPr>
          <p:nvPr/>
        </p:nvSpPr>
        <p:spPr>
          <a:xfrm xmlns:a="http://schemas.openxmlformats.org/drawingml/2006/main">
            <a:off x="8039100" y="3810000"/>
            <a:ext cx="352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B45336"/>
                </a:solidFill>
                <a:latin typeface="DejaVu Sans"/>
                <a:ea typeface="DejaVu Sans"/>
                <a:cs typeface="DejaVu Sans"/>
              </a:defRPr>
            </a:defPPr>
          </a:lstStyle>
          <a:p xmlns:a="http://schemas.openxmlformats.org/drawingml/2006/main">
            <a:pPr algn="l">
              <a:buNone/>
              <a:defRPr sz="3450" b="1">
                <a:solidFill>
                  <a:srgbClr val="B45336"/>
                </a:solidFill>
                <a:latin typeface="DejaVu Sans"/>
                <a:ea typeface="DejaVu Sans"/>
                <a:cs typeface="DejaVu Sans"/>
              </a:defRPr>
            </a:pPr>
            <a:r>
              <a:rPr sz="3450" b="1">
                <a:solidFill>
                  <a:srgbClr val="B45336"/>
                </a:solidFill>
                <a:latin typeface="DejaVu Sans"/>
                <a:ea typeface="DejaVu Sans"/>
                <a:cs typeface="DejaVu Sans"/>
              </a:rPr>
              <a:t>54.36 °C</a:t>
            </a:r>
          </a:p>
        </p:txBody>
      </p:sp>
      <p:sp>
        <p:nvSpPr>
          <p:cNvPr id="9" name="text">
            <a:extLst xmlns:a="http://schemas.openxmlformats.org/drawingml/2006/main">
              <a:ext uri="{FF2B5EF4-FFF2-40B4-BE49-F238E27FC236}">
                <a16:creationId xmlns:a16="http://schemas.microsoft.com/office/drawing/2014/main" id="{00B6811B-CED5-47E5-8D11-25DA834739EA}"/>
              </a:ext>
            </a:extLst>
          </p:cNvPr>
          <p:cNvSpPr>
            <a:spLocks xmlns:a="http://schemas.openxmlformats.org/drawingml/2006/main" noGrp="1"/>
          </p:cNvSpPr>
          <p:nvPr/>
        </p:nvSpPr>
        <p:spPr>
          <a:xfrm xmlns:a="http://schemas.openxmlformats.org/drawingml/2006/main">
            <a:off x="8067675" y="4514850"/>
            <a:ext cx="3486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C3D"/>
                </a:solidFill>
                <a:latin typeface="DejaVu Sans"/>
                <a:ea typeface="DejaVu Sans"/>
                <a:cs typeface="DejaVu Sans"/>
              </a:defRPr>
            </a:defPPr>
          </a:lstStyle>
          <a:p xmlns:a="http://schemas.openxmlformats.org/drawingml/2006/main">
            <a:pPr algn="l">
              <a:buNone/>
              <a:defRPr sz="1950" b="0">
                <a:solidFill>
                  <a:srgbClr val="163C3D"/>
                </a:solidFill>
                <a:latin typeface="DejaVu Sans"/>
                <a:ea typeface="DejaVu Sans"/>
                <a:cs typeface="DejaVu Sans"/>
              </a:defRPr>
            </a:pPr>
            <a:r>
              <a:rPr sz="1950" b="0">
                <a:solidFill>
                  <a:srgbClr val="163C3D"/>
                </a:solidFill>
                <a:latin typeface="DejaVu Sans"/>
                <a:ea typeface="DejaVu Sans"/>
                <a:cs typeface="DejaVu Sans"/>
              </a:rPr>
              <a:t>Mean across 100 cells</a:t>
            </a:r>
          </a:p>
        </p:txBody>
      </p:sp>
      <p:sp>
        <p:nvSpPr>
          <p:cNvPr id="10" name="text">
            <a:extLst xmlns:a="http://schemas.openxmlformats.org/drawingml/2006/main">
              <a:ext uri="{FF2B5EF4-FFF2-40B4-BE49-F238E27FC236}">
                <a16:creationId xmlns:a16="http://schemas.microsoft.com/office/drawing/2014/main" id="{5171C01E-856B-4E25-AFC2-43C1C3A7513A}"/>
              </a:ext>
            </a:extLst>
          </p:cNvPr>
          <p:cNvSpPr>
            <a:spLocks xmlns:a="http://schemas.openxmlformats.org/drawingml/2006/main" noGrp="1"/>
          </p:cNvSpPr>
          <p:nvPr/>
        </p:nvSpPr>
        <p:spPr>
          <a:xfrm xmlns:a="http://schemas.openxmlformats.org/drawingml/2006/main">
            <a:off x="8067675" y="5429250"/>
            <a:ext cx="3486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967"/>
                </a:solidFill>
                <a:latin typeface="DejaVu Sans"/>
                <a:ea typeface="DejaVu Sans"/>
                <a:cs typeface="DejaVu Sans"/>
              </a:defRPr>
            </a:defPPr>
          </a:lstStyle>
          <a:p xmlns:a="http://schemas.openxmlformats.org/drawingml/2006/main">
            <a:pPr algn="l">
              <a:buNone/>
              <a:defRPr sz="1800" b="0">
                <a:solidFill>
                  <a:srgbClr val="596967"/>
                </a:solidFill>
                <a:latin typeface="DejaVu Sans"/>
                <a:ea typeface="DejaVu Sans"/>
                <a:cs typeface="DejaVu Sans"/>
              </a:defRPr>
            </a:pPr>
            <a:r>
              <a:rPr sz="1800" b="0">
                <a:solidFill>
                  <a:srgbClr val="596967"/>
                </a:solidFill>
                <a:latin typeface="DejaVu Sans"/>
                <a:ea typeface="DejaVu Sans"/>
                <a:cs typeface="DejaVu Sans"/>
              </a:rPr>
              <a:t>One satellite overpass.</a:t>
            </a:r>
          </a:p>
          <a:p xmlns:a="http://schemas.openxmlformats.org/drawingml/2006/main">
            <a:pPr algn="l">
              <a:buNone/>
              <a:defRPr sz="1800" b="0">
                <a:solidFill>
                  <a:srgbClr val="596967"/>
                </a:solidFill>
                <a:latin typeface="DejaVu Sans"/>
                <a:ea typeface="DejaVu Sans"/>
                <a:cs typeface="DejaVu Sans"/>
              </a:defRPr>
            </a:pPr>
            <a:r>
              <a:rPr sz="1800" b="0">
                <a:solidFill>
                  <a:srgbClr val="596967"/>
                </a:solidFill>
                <a:latin typeface="DejaVu Sans"/>
                <a:ea typeface="DejaVu Sans"/>
                <a:cs typeface="DejaVu Sans"/>
              </a:rPr>
              <a:t>Persistence is untested.</a:t>
            </a:r>
          </a:p>
        </p:txBody>
      </p:sp>
    </p:spTree>
    <p:extLst>
      <p:ext uri="{BB962C8B-B14F-4D97-AF65-F5344CB8AC3E}">
        <p14:creationId xmlns:p14="http://schemas.microsoft.com/office/powerpoint/2010/main" val="806617544"/>
      </p:ext>
    </p:extLst>
  </p:cSld>
</p:sld>
</file>

<file path=ppt/slides/slide7.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E8D1C98-7CA6-44B2-845C-4C2AC2ECA5B1}"/>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Vegetation signal across the sample</a:t>
            </a:r>
          </a:p>
        </p:txBody>
      </p:sp>
      <p:sp>
        <p:nvSpPr>
          <p:cNvPr id="2" name="text">
            <a:extLst xmlns:a="http://schemas.openxmlformats.org/drawingml/2006/main">
              <a:ext uri="{FF2B5EF4-FFF2-40B4-BE49-F238E27FC236}">
                <a16:creationId xmlns:a16="http://schemas.microsoft.com/office/drawing/2014/main" id="{C64180AB-0BA1-4716-8EB3-B620CFD8A534}"/>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C66B1685-3E5C-4A7C-95C3-CA578B3FBCE7}"/>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07</a:t>
            </a:r>
          </a:p>
        </p:txBody>
      </p:sp>
      <p:pic>
        <p:nvPicPr>
          <p:cNvPr id="4" name="">
            <a:extLst xmlns:a="http://schemas.openxmlformats.org/drawingml/2006/main">
              <a:ext uri="{FF2B5EF4-FFF2-40B4-BE49-F238E27FC236}">
                <a16:creationId xmlns:a16="http://schemas.microsoft.com/office/drawing/2014/main" id="{A115F005-BC41-4F3A-BE20-3D014586DF36}"/>
              </a:ext>
            </a:extLst>
          </p:cNvPr>
          <p:cNvPicPr>
            <a:picLocks xmlns:a="http://schemas.openxmlformats.org/drawingml/2006/main" noChangeAspect="1"/>
          </p:cNvPicPr>
          <p:nvPr/>
        </p:nvPicPr>
        <p:blipFill>
          <a:blip xmlns:r="http://schemas.openxmlformats.org/officeDocument/2006/relationships" xmlns:a="http://schemas.openxmlformats.org/drawingml/2006/main" r:embed="Rafeedfcf1917420f"/>
          <a:stretch xmlns:a="http://schemas.openxmlformats.org/drawingml/2006/main"/>
        </p:blipFill>
        <p:spPr>
          <a:xfrm xmlns:a="http://schemas.openxmlformats.org/drawingml/2006/main">
            <a:off x="991675" y="1314450"/>
            <a:ext cx="6255774" cy="4848225"/>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293F9C14-6669-4367-90BF-353F3FE93C80}"/>
              </a:ext>
            </a:extLst>
          </p:cNvPr>
          <p:cNvSpPr>
            <a:spLocks xmlns:a="http://schemas.openxmlformats.org/drawingml/2006/main" noGrp="1"/>
          </p:cNvSpPr>
          <p:nvPr/>
        </p:nvSpPr>
        <p:spPr>
          <a:xfrm xmlns:a="http://schemas.openxmlformats.org/drawingml/2006/main">
            <a:off x="8058150" y="1657350"/>
            <a:ext cx="3514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NDVI</a:t>
            </a:r>
          </a:p>
        </p:txBody>
      </p:sp>
      <p:sp>
        <p:nvSpPr>
          <p:cNvPr id="6" name="text">
            <a:extLst xmlns:a="http://schemas.openxmlformats.org/drawingml/2006/main">
              <a:ext uri="{FF2B5EF4-FFF2-40B4-BE49-F238E27FC236}">
                <a16:creationId xmlns:a16="http://schemas.microsoft.com/office/drawing/2014/main" id="{D1BB7480-8FCB-4DE9-86D5-7DD53A9AEB5C}"/>
              </a:ext>
            </a:extLst>
          </p:cNvPr>
          <p:cNvSpPr>
            <a:spLocks xmlns:a="http://schemas.openxmlformats.org/drawingml/2006/main" noGrp="1"/>
          </p:cNvSpPr>
          <p:nvPr/>
        </p:nvSpPr>
        <p:spPr>
          <a:xfrm xmlns:a="http://schemas.openxmlformats.org/drawingml/2006/main">
            <a:off x="8039100" y="2143125"/>
            <a:ext cx="3562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63C3D"/>
                </a:solidFill>
                <a:latin typeface="DejaVu Sans"/>
                <a:ea typeface="DejaVu Sans"/>
                <a:cs typeface="DejaVu Sans"/>
              </a:defRPr>
            </a:defPPr>
          </a:lstStyle>
          <a:p xmlns:a="http://schemas.openxmlformats.org/drawingml/2006/main">
            <a:pPr algn="l">
              <a:buNone/>
              <a:defRPr sz="2475" b="1">
                <a:solidFill>
                  <a:srgbClr val="163C3D"/>
                </a:solidFill>
                <a:latin typeface="DejaVu Sans"/>
                <a:ea typeface="DejaVu Sans"/>
                <a:cs typeface="DejaVu Sans"/>
              </a:defRPr>
            </a:pPr>
            <a:r>
              <a:rPr sz="2475" b="1">
                <a:solidFill>
                  <a:srgbClr val="163C3D"/>
                </a:solidFill>
                <a:latin typeface="DejaVu Sans"/>
                <a:ea typeface="DejaVu Sans"/>
                <a:cs typeface="DejaVu Sans"/>
              </a:rPr>
              <a:t>A broad signal of</a:t>
            </a:r>
          </a:p>
          <a:p xmlns:a="http://schemas.openxmlformats.org/drawingml/2006/main">
            <a:pPr algn="l">
              <a:buNone/>
              <a:defRPr sz="2475" b="1">
                <a:solidFill>
                  <a:srgbClr val="163C3D"/>
                </a:solidFill>
                <a:latin typeface="DejaVu Sans"/>
                <a:ea typeface="DejaVu Sans"/>
                <a:cs typeface="DejaVu Sans"/>
              </a:defRPr>
            </a:pPr>
            <a:r>
              <a:rPr sz="2475" b="1">
                <a:solidFill>
                  <a:srgbClr val="163C3D"/>
                </a:solidFill>
                <a:latin typeface="DejaVu Sans"/>
                <a:ea typeface="DejaVu Sans"/>
                <a:cs typeface="DejaVu Sans"/>
              </a:rPr>
              <a:t>vegetation condition</a:t>
            </a:r>
          </a:p>
        </p:txBody>
      </p:sp>
      <p:sp>
        <p:nvSpPr>
          <p:cNvPr id="7" name="text">
            <a:extLst xmlns:a="http://schemas.openxmlformats.org/drawingml/2006/main">
              <a:ext uri="{FF2B5EF4-FFF2-40B4-BE49-F238E27FC236}">
                <a16:creationId xmlns:a16="http://schemas.microsoft.com/office/drawing/2014/main" id="{73705CFA-D33C-476F-BC8A-F24186FC3F85}"/>
              </a:ext>
            </a:extLst>
          </p:cNvPr>
          <p:cNvSpPr>
            <a:spLocks xmlns:a="http://schemas.openxmlformats.org/drawingml/2006/main" noGrp="1"/>
          </p:cNvSpPr>
          <p:nvPr/>
        </p:nvSpPr>
        <p:spPr>
          <a:xfrm xmlns:a="http://schemas.openxmlformats.org/drawingml/2006/main">
            <a:off x="8058150" y="3648075"/>
            <a:ext cx="35147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C3D"/>
                </a:solidFill>
                <a:latin typeface="DejaVu Sans"/>
                <a:ea typeface="DejaVu Sans"/>
                <a:cs typeface="DejaVu Sans"/>
              </a:defRPr>
            </a:defPPr>
          </a:lstStyle>
          <a:p xmlns:a="http://schemas.openxmlformats.org/drawingml/2006/main">
            <a:pPr algn="l">
              <a:buNone/>
              <a:defRPr sz="2100" b="0">
                <a:solidFill>
                  <a:srgbClr val="163C3D"/>
                </a:solidFill>
                <a:latin typeface="DejaVu Sans"/>
                <a:ea typeface="DejaVu Sans"/>
                <a:cs typeface="DejaVu Sans"/>
              </a:defRPr>
            </a:pPr>
            <a:r>
              <a:rPr sz="2100" b="0">
                <a:solidFill>
                  <a:srgbClr val="163C3D"/>
                </a:solidFill>
                <a:latin typeface="DejaVu Sans"/>
                <a:ea typeface="DejaVu Sans"/>
                <a:cs typeface="DejaVu Sans"/>
              </a:rPr>
              <a:t>The analysis also derives NDBI, MNDWI and BSI from the same six bands.</a:t>
            </a:r>
          </a:p>
        </p:txBody>
      </p:sp>
      <p:sp>
        <p:nvSpPr>
          <p:cNvPr id="8" name="text">
            <a:extLst xmlns:a="http://schemas.openxmlformats.org/drawingml/2006/main">
              <a:ext uri="{FF2B5EF4-FFF2-40B4-BE49-F238E27FC236}">
                <a16:creationId xmlns:a16="http://schemas.microsoft.com/office/drawing/2014/main" id="{27685668-C8A7-4F88-826F-E9D3C3067A46}"/>
              </a:ext>
            </a:extLst>
          </p:cNvPr>
          <p:cNvSpPr>
            <a:spLocks xmlns:a="http://schemas.openxmlformats.org/drawingml/2006/main" noGrp="1"/>
          </p:cNvSpPr>
          <p:nvPr/>
        </p:nvSpPr>
        <p:spPr>
          <a:xfrm xmlns:a="http://schemas.openxmlformats.org/drawingml/2006/main">
            <a:off x="8058150" y="5343525"/>
            <a:ext cx="3514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45336"/>
                </a:solidFill>
                <a:latin typeface="DejaVu Sans"/>
                <a:ea typeface="DejaVu Sans"/>
                <a:cs typeface="DejaVu Sans"/>
              </a:defRPr>
            </a:defPPr>
          </a:lstStyle>
          <a:p xmlns:a="http://schemas.openxmlformats.org/drawingml/2006/main">
            <a:pPr algn="l">
              <a:buNone/>
              <a:defRPr sz="1800" b="0">
                <a:solidFill>
                  <a:srgbClr val="B45336"/>
                </a:solidFill>
                <a:latin typeface="DejaVu Sans"/>
                <a:ea typeface="DejaVu Sans"/>
                <a:cs typeface="DejaVu Sans"/>
              </a:defRPr>
            </a:pPr>
            <a:r>
              <a:rPr sz="1800" b="0">
                <a:solidFill>
                  <a:srgbClr val="B45336"/>
                </a:solidFill>
                <a:latin typeface="DejaVu Sans"/>
                <a:ea typeface="DejaVu Sans"/>
                <a:cs typeface="DejaVu Sans"/>
              </a:rPr>
              <a:t>Indices alone do not verify roof or pavement materials.</a:t>
            </a:r>
          </a:p>
        </p:txBody>
      </p:sp>
    </p:spTree>
    <p:extLst>
      <p:ext uri="{BB962C8B-B14F-4D97-AF65-F5344CB8AC3E}">
        <p14:creationId xmlns:p14="http://schemas.microsoft.com/office/powerpoint/2010/main" val="1284325189"/>
      </p:ext>
    </p:extLst>
  </p:cSld>
</p:sld>
</file>

<file path=ppt/slides/slide8.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86E5865F-80EB-4731-A8AB-5F7404BFC3F4}"/>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Provisional cooling-assessment priorities</a:t>
            </a:r>
          </a:p>
        </p:txBody>
      </p:sp>
      <p:sp>
        <p:nvSpPr>
          <p:cNvPr id="2" name="text">
            <a:extLst xmlns:a="http://schemas.openxmlformats.org/drawingml/2006/main">
              <a:ext uri="{FF2B5EF4-FFF2-40B4-BE49-F238E27FC236}">
                <a16:creationId xmlns:a16="http://schemas.microsoft.com/office/drawing/2014/main" id="{9FBF1EC0-069E-40DE-BAD1-9108B28E185F}"/>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412DDCAC-C116-4983-A854-CB30B3798F1F}"/>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08</a:t>
            </a:r>
          </a:p>
        </p:txBody>
      </p:sp>
      <p:pic>
        <p:nvPicPr>
          <p:cNvPr id="4" name="">
            <a:extLst xmlns:a="http://schemas.openxmlformats.org/drawingml/2006/main">
              <a:ext uri="{FF2B5EF4-FFF2-40B4-BE49-F238E27FC236}">
                <a16:creationId xmlns:a16="http://schemas.microsoft.com/office/drawing/2014/main" id="{E09CF3AC-FF0D-48E2-9F2C-CBD2638E7A64}"/>
              </a:ext>
            </a:extLst>
          </p:cNvPr>
          <p:cNvPicPr>
            <a:picLocks xmlns:a="http://schemas.openxmlformats.org/drawingml/2006/main" noChangeAspect="1"/>
          </p:cNvPicPr>
          <p:nvPr/>
        </p:nvPicPr>
        <p:blipFill>
          <a:blip xmlns:r="http://schemas.openxmlformats.org/officeDocument/2006/relationships" xmlns:a="http://schemas.openxmlformats.org/drawingml/2006/main" r:embed="R80ffbed531114477"/>
          <a:stretch xmlns:a="http://schemas.openxmlformats.org/drawingml/2006/main"/>
        </p:blipFill>
        <p:spPr>
          <a:xfrm xmlns:a="http://schemas.openxmlformats.org/drawingml/2006/main">
            <a:off x="991675" y="1314450"/>
            <a:ext cx="6255774" cy="4848225"/>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9AC8FF1F-1337-44AB-AA8F-D00E91C64F77}"/>
              </a:ext>
            </a:extLst>
          </p:cNvPr>
          <p:cNvSpPr>
            <a:spLocks xmlns:a="http://schemas.openxmlformats.org/drawingml/2006/main" noGrp="1"/>
          </p:cNvSpPr>
          <p:nvPr/>
        </p:nvSpPr>
        <p:spPr>
          <a:xfrm xmlns:a="http://schemas.openxmlformats.org/drawingml/2006/main">
            <a:off x="8058150" y="1581150"/>
            <a:ext cx="3514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Within-window heat ranking</a:t>
            </a:r>
          </a:p>
        </p:txBody>
      </p:sp>
      <p:sp>
        <p:nvSpPr>
          <p:cNvPr id="6" name="text">
            <a:extLst xmlns:a="http://schemas.openxmlformats.org/drawingml/2006/main">
              <a:ext uri="{FF2B5EF4-FFF2-40B4-BE49-F238E27FC236}">
                <a16:creationId xmlns:a16="http://schemas.microsoft.com/office/drawing/2014/main" id="{EDD9A32E-7CE9-471F-9ADD-6CF1196583F1}"/>
              </a:ext>
            </a:extLst>
          </p:cNvPr>
          <p:cNvSpPr>
            <a:spLocks xmlns:a="http://schemas.openxmlformats.org/drawingml/2006/main" noGrp="1"/>
          </p:cNvSpPr>
          <p:nvPr/>
        </p:nvSpPr>
        <p:spPr>
          <a:xfrm xmlns:a="http://schemas.openxmlformats.org/drawingml/2006/main">
            <a:off x="8039100" y="2152650"/>
            <a:ext cx="356235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10 higher</a:t>
            </a:r>
          </a:p>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15 medium</a:t>
            </a:r>
          </a:p>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75 lower</a:t>
            </a:r>
          </a:p>
        </p:txBody>
      </p:sp>
      <p:sp>
        <p:nvSpPr>
          <p:cNvPr id="7" name="text">
            <a:extLst xmlns:a="http://schemas.openxmlformats.org/drawingml/2006/main">
              <a:ext uri="{FF2B5EF4-FFF2-40B4-BE49-F238E27FC236}">
                <a16:creationId xmlns:a16="http://schemas.microsoft.com/office/drawing/2014/main" id="{17FC15E0-B4AE-4ACD-8F5B-CD48D6D0A45D}"/>
              </a:ext>
            </a:extLst>
          </p:cNvPr>
          <p:cNvSpPr>
            <a:spLocks xmlns:a="http://schemas.openxmlformats.org/drawingml/2006/main" noGrp="1"/>
          </p:cNvSpPr>
          <p:nvPr/>
        </p:nvSpPr>
        <p:spPr>
          <a:xfrm xmlns:a="http://schemas.openxmlformats.org/drawingml/2006/main">
            <a:off x="8058150" y="4333875"/>
            <a:ext cx="3505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C3D"/>
                </a:solidFill>
                <a:latin typeface="DejaVu Sans"/>
                <a:ea typeface="DejaVu Sans"/>
                <a:cs typeface="DejaVu Sans"/>
              </a:defRPr>
            </a:defPPr>
          </a:lstStyle>
          <a:p xmlns:a="http://schemas.openxmlformats.org/drawingml/2006/main">
            <a:pPr algn="l">
              <a:buNone/>
              <a:defRPr sz="1950" b="0">
                <a:solidFill>
                  <a:srgbClr val="163C3D"/>
                </a:solidFill>
                <a:latin typeface="DejaVu Sans"/>
                <a:ea typeface="DejaVu Sans"/>
                <a:cs typeface="DejaVu Sans"/>
              </a:defRPr>
            </a:pPr>
            <a:r>
              <a:rPr sz="1950" b="0">
                <a:solidFill>
                  <a:srgbClr val="163C3D"/>
                </a:solidFill>
                <a:latin typeface="DejaVu Sans"/>
                <a:ea typeface="DejaVu Sans"/>
                <a:cs typeface="DejaVu Sans"/>
              </a:rPr>
              <a:t>Higher: score ≥90</a:t>
            </a:r>
          </a:p>
          <a:p xmlns:a="http://schemas.openxmlformats.org/drawingml/2006/main">
            <a:pPr algn="l">
              <a:buNone/>
              <a:defRPr sz="1950" b="0">
                <a:solidFill>
                  <a:srgbClr val="163C3D"/>
                </a:solidFill>
                <a:latin typeface="DejaVu Sans"/>
                <a:ea typeface="DejaVu Sans"/>
                <a:cs typeface="DejaVu Sans"/>
              </a:defRPr>
            </a:pPr>
            <a:r>
              <a:rPr sz="1950" b="0">
                <a:solidFill>
                  <a:srgbClr val="163C3D"/>
                </a:solidFill>
                <a:latin typeface="DejaVu Sans"/>
                <a:ea typeface="DejaVu Sans"/>
                <a:cs typeface="DejaVu Sans"/>
              </a:rPr>
              <a:t>Medium: 75 to &lt;90</a:t>
            </a:r>
          </a:p>
          <a:p xmlns:a="http://schemas.openxmlformats.org/drawingml/2006/main">
            <a:pPr algn="l">
              <a:buNone/>
              <a:defRPr sz="1950" b="0">
                <a:solidFill>
                  <a:srgbClr val="163C3D"/>
                </a:solidFill>
                <a:latin typeface="DejaVu Sans"/>
                <a:ea typeface="DejaVu Sans"/>
                <a:cs typeface="DejaVu Sans"/>
              </a:defRPr>
            </a:pPr>
            <a:r>
              <a:rPr sz="1950" b="0">
                <a:solidFill>
                  <a:srgbClr val="163C3D"/>
                </a:solidFill>
                <a:latin typeface="DejaVu Sans"/>
                <a:ea typeface="DejaVu Sans"/>
                <a:cs typeface="DejaVu Sans"/>
              </a:rPr>
              <a:t>Lower: score &lt;75</a:t>
            </a:r>
          </a:p>
        </p:txBody>
      </p:sp>
      <p:sp>
        <p:nvSpPr>
          <p:cNvPr id="8" name="text">
            <a:extLst xmlns:a="http://schemas.openxmlformats.org/drawingml/2006/main">
              <a:ext uri="{FF2B5EF4-FFF2-40B4-BE49-F238E27FC236}">
                <a16:creationId xmlns:a16="http://schemas.microsoft.com/office/drawing/2014/main" id="{900E0A4E-698B-4F49-92E9-741625F23FF4}"/>
              </a:ext>
            </a:extLst>
          </p:cNvPr>
          <p:cNvSpPr>
            <a:spLocks xmlns:a="http://schemas.openxmlformats.org/drawingml/2006/main" noGrp="1"/>
          </p:cNvSpPr>
          <p:nvPr/>
        </p:nvSpPr>
        <p:spPr>
          <a:xfrm xmlns:a="http://schemas.openxmlformats.org/drawingml/2006/main">
            <a:off x="8058150" y="5753100"/>
            <a:ext cx="3514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45336"/>
                </a:solidFill>
                <a:latin typeface="DejaVu Sans"/>
                <a:ea typeface="DejaVu Sans"/>
                <a:cs typeface="DejaVu Sans"/>
              </a:defRPr>
            </a:defPPr>
          </a:lstStyle>
          <a:p xmlns:a="http://schemas.openxmlformats.org/drawingml/2006/main">
            <a:pPr algn="l">
              <a:buNone/>
              <a:defRPr sz="1725" b="0">
                <a:solidFill>
                  <a:srgbClr val="B45336"/>
                </a:solidFill>
                <a:latin typeface="DejaVu Sans"/>
                <a:ea typeface="DejaVu Sans"/>
                <a:cs typeface="DejaVu Sans"/>
              </a:defRPr>
            </a:pPr>
            <a:r>
              <a:rPr sz="1725" b="0">
                <a:solidFill>
                  <a:srgbClr val="B45336"/>
                </a:solidFill>
                <a:latin typeface="DejaVu Sans"/>
                <a:ea typeface="DejaVu Sans"/>
                <a:cs typeface="DejaVu Sans"/>
              </a:rPr>
              <a:t>Thresholds are exploratory.</a:t>
            </a:r>
          </a:p>
        </p:txBody>
      </p:sp>
    </p:spTree>
    <p:extLst>
      <p:ext uri="{BB962C8B-B14F-4D97-AF65-F5344CB8AC3E}">
        <p14:creationId xmlns:p14="http://schemas.microsoft.com/office/powerpoint/2010/main" val="1445034836"/>
      </p:ext>
    </p:extLst>
  </p:cSld>
</p:sld>
</file>

<file path=ppt/slides/slide9.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752F5D60-1576-4A82-9307-A2F50F930105}"/>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Evidence behind a mapped priority</a:t>
            </a:r>
          </a:p>
        </p:txBody>
      </p:sp>
      <p:sp>
        <p:nvSpPr>
          <p:cNvPr id="2" name="text">
            <a:extLst xmlns:a="http://schemas.openxmlformats.org/drawingml/2006/main">
              <a:ext uri="{FF2B5EF4-FFF2-40B4-BE49-F238E27FC236}">
                <a16:creationId xmlns:a16="http://schemas.microsoft.com/office/drawing/2014/main" id="{94670144-FD6E-4991-8324-71EBEFE7A46F}"/>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B82341A1-4152-47E1-85D4-CCD06019013B}"/>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09</a:t>
            </a:r>
          </a:p>
        </p:txBody>
      </p:sp>
      <p:sp>
        <p:nvSpPr>
          <p:cNvPr id="4" name="text">
            <a:extLst xmlns:a="http://schemas.openxmlformats.org/drawingml/2006/main">
              <a:ext uri="{FF2B5EF4-FFF2-40B4-BE49-F238E27FC236}">
                <a16:creationId xmlns:a16="http://schemas.microsoft.com/office/drawing/2014/main" id="{F5633D36-9C10-45D1-8BD4-01E1D794414E}"/>
              </a:ext>
            </a:extLst>
          </p:cNvPr>
          <p:cNvSpPr>
            <a:spLocks xmlns:a="http://schemas.openxmlformats.org/drawingml/2006/main" noGrp="1"/>
          </p:cNvSpPr>
          <p:nvPr/>
        </p:nvSpPr>
        <p:spPr>
          <a:xfrm xmlns:a="http://schemas.openxmlformats.org/drawingml/2006/main">
            <a:off x="609600" y="157162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window_r09_c09</a:t>
            </a:r>
          </a:p>
        </p:txBody>
      </p:sp>
      <p:graphicFrame>
        <p:nvGraphicFramePr>
          <p:cNvPr id="5" name="">
            <a:extLst xmlns:a="http://schemas.openxmlformats.org/drawingml/2006/main">
              <a:ext uri="{FF2B5EF4-FFF2-40B4-BE49-F238E27FC236}">
                <a16:creationId xmlns:a16="http://schemas.microsoft.com/office/drawing/2014/main" id="{8D06969C-737F-4D4F-9808-2E0866D5B36D}"/>
              </a:ext>
            </a:extLst>
          </p:cNvPr>
          <p:cNvGraphicFramePr/>
          <p:nvPr/>
        </p:nvGraphicFramePr>
        <p:xfrm>
          <a:off xmlns:a="http://schemas.openxmlformats.org/drawingml/2006/main" x="609600" y="2076450"/>
          <a:ext xmlns:a="http://schemas.openxmlformats.org/drawingml/2006/main" cx="6477000" cy="3486150"/>
        </p:xfrm>
        <a:graphic xmlns:a="http://schemas.openxmlformats.org/drawingml/2006/main">
          <a:graphicData uri="http://schemas.openxmlformats.org/drawingml/2006/table">
            <a:tbl>
              <a:tblPr firstRow="0" bandRow="0"/>
              <a:tblGrid>
                <a:gridCol w="3362325"/>
                <a:gridCol w="3114675"/>
              </a:tblGrid>
              <a:tr h="533400">
                <a:tc>
                  <a:txBody>
                    <a:bodyPr lIns="142875" tIns="95250" rIns="142875" bIns="95250">
                      <a:noAutofit/>
                    </a:bodyPr>
                    <a:lstStyle/>
                    <a:p>
                      <a:r>
                        <a:rPr sz="1650" b="1">
                          <a:solidFill>
                            <a:srgbClr val="F6F2E9"/>
                          </a:solidFill>
                          <a:latin typeface="DejaVu Sans"/>
                          <a:ea typeface="DejaVu Sans"/>
                          <a:cs typeface="DejaVu Sans"/>
                        </a:rPr>
                        <a:t>Evidence field</a:t>
                      </a:r>
                    </a:p>
                  </a:txBody>
                  <a:tcPr marL="91440" marR="91440" marT="45720" marB="45720" anchor="ctr">
                    <a:solidFill>
                      <a:srgbClr val="163C3D"/>
                    </a:solidFill>
                  </a:tcPr>
                </a:tc>
                <a:tc>
                  <a:txBody>
                    <a:bodyPr lIns="142875" tIns="95250" rIns="142875" bIns="95250">
                      <a:noAutofit/>
                    </a:bodyPr>
                    <a:lstStyle/>
                    <a:p>
                      <a:r>
                        <a:rPr sz="1650" b="1">
                          <a:solidFill>
                            <a:srgbClr val="F6F2E9"/>
                          </a:solidFill>
                          <a:latin typeface="DejaVu Sans"/>
                          <a:ea typeface="DejaVu Sans"/>
                          <a:cs typeface="DejaVu Sans"/>
                        </a:rPr>
                        <a:t>Actual output</a:t>
                      </a:r>
                    </a:p>
                  </a:txBody>
                  <a:tcPr marL="91440" marR="91440" marT="45720" marB="45720" anchor="ctr">
                    <a:solidFill>
                      <a:srgbClr val="163C3D"/>
                    </a:solidFill>
                  </a:tcPr>
                </a:tc>
              </a:tr>
              <a:tr h="738188">
                <a:tc>
                  <a:txBody>
                    <a:bodyPr lIns="142875" tIns="95250" rIns="142875" bIns="95250">
                      <a:noAutofit/>
                    </a:bodyPr>
                    <a:lstStyle/>
                    <a:p>
                      <a:r>
                        <a:rPr sz="1800" b="1">
                          <a:solidFill>
                            <a:srgbClr val="163C3D"/>
                          </a:solidFill>
                          <a:latin typeface="DejaVu Sans"/>
                          <a:ea typeface="DejaVu Sans"/>
                          <a:cs typeface="DejaVu Sans"/>
                        </a:rPr>
                        <a:t>Surface temperature</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55.96 °C</a:t>
                      </a:r>
                    </a:p>
                  </a:txBody>
                  <a:tcPr marL="91440" marR="91440" marT="45720" marB="45720" anchor="ctr">
                    <a:solidFill>
                      <a:srgbClr val="F6F2E9"/>
                    </a:solidFill>
                  </a:tcPr>
                </a:tc>
              </a:tr>
              <a:tr h="738188">
                <a:tc>
                  <a:txBody>
                    <a:bodyPr lIns="142875" tIns="95250" rIns="142875" bIns="95250">
                      <a:noAutofit/>
                    </a:bodyPr>
                    <a:lstStyle/>
                    <a:p>
                      <a:r>
                        <a:rPr sz="1800" b="1">
                          <a:solidFill>
                            <a:srgbClr val="163C3D"/>
                          </a:solidFill>
                          <a:latin typeface="DejaVu Sans"/>
                          <a:ea typeface="DejaVu Sans"/>
                          <a:cs typeface="DejaVu Sans"/>
                        </a:rPr>
                        <a:t>Relative to window median</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+1.64 °C</a:t>
                      </a:r>
                    </a:p>
                  </a:txBody>
                  <a:tcPr marL="91440" marR="91440" marT="45720" marB="45720" anchor="ctr">
                    <a:solidFill>
                      <a:srgbClr val="F6F2E9"/>
                    </a:solidFill>
                  </a:tcPr>
                </a:tc>
              </a:tr>
              <a:tr h="738188">
                <a:tc>
                  <a:txBody>
                    <a:bodyPr lIns="142875" tIns="95250" rIns="142875" bIns="95250">
                      <a:noAutofit/>
                    </a:bodyPr>
                    <a:lstStyle/>
                    <a:p>
                      <a:r>
                        <a:rPr sz="1800" b="1">
                          <a:solidFill>
                            <a:srgbClr val="163C3D"/>
                          </a:solidFill>
                          <a:latin typeface="DejaVu Sans"/>
                          <a:ea typeface="DejaVu Sans"/>
                          <a:cs typeface="DejaVu Sans"/>
                        </a:rPr>
                        <a:t>Heat score and priority</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99.5 / 100, Higher</a:t>
                      </a:r>
                    </a:p>
                  </a:txBody>
                  <a:tcPr marL="91440" marR="91440" marT="45720" marB="45720" anchor="ctr">
                    <a:solidFill>
                      <a:srgbClr val="F6F2E9"/>
                    </a:solidFill>
                  </a:tcPr>
                </a:tc>
              </a:tr>
              <a:tr h="738188">
                <a:tc>
                  <a:txBody>
                    <a:bodyPr lIns="142875" tIns="95250" rIns="142875" bIns="95250">
                      <a:noAutofit/>
                    </a:bodyPr>
                    <a:lstStyle/>
                    <a:p>
                      <a:r>
                        <a:rPr sz="1800" b="1">
                          <a:solidFill>
                            <a:srgbClr val="163C3D"/>
                          </a:solidFill>
                          <a:latin typeface="DejaVu Sans"/>
                          <a:ea typeface="DejaVu Sans"/>
                          <a:cs typeface="DejaVu Sans"/>
                        </a:rPr>
                        <a:t>Observation date</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11 June 2026</a:t>
                      </a:r>
                    </a:p>
                  </a:txBody>
                  <a:tcPr marL="91440" marR="91440" marT="45720" marB="45720" anchor="ctr">
                    <a:solidFill>
                      <a:srgbClr val="F6F2E9"/>
                    </a:solidFill>
                  </a:tcPr>
                </a:tc>
              </a:tr>
            </a:tbl>
          </a:graphicData>
        </a:graphic>
      </p:graphicFrame>
      <p:sp>
        <p:nvSpPr>
          <p:cNvPr id="6" name="text">
            <a:extLst xmlns:a="http://schemas.openxmlformats.org/drawingml/2006/main">
              <a:ext uri="{FF2B5EF4-FFF2-40B4-BE49-F238E27FC236}">
                <a16:creationId xmlns:a16="http://schemas.microsoft.com/office/drawing/2014/main" id="{69D074EF-7B31-497C-BAB3-BE2082056E2B}"/>
              </a:ext>
            </a:extLst>
          </p:cNvPr>
          <p:cNvSpPr>
            <a:spLocks xmlns:a="http://schemas.openxmlformats.org/drawingml/2006/main" noGrp="1"/>
          </p:cNvSpPr>
          <p:nvPr/>
        </p:nvSpPr>
        <p:spPr>
          <a:xfrm xmlns:a="http://schemas.openxmlformats.org/drawingml/2006/main">
            <a:off x="7743825" y="2066925"/>
            <a:ext cx="3800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Candidate assessments</a:t>
            </a:r>
          </a:p>
        </p:txBody>
      </p:sp>
      <p:sp>
        <p:nvSpPr>
          <p:cNvPr id="7" name="text">
            <a:extLst xmlns:a="http://schemas.openxmlformats.org/drawingml/2006/main">
              <a:ext uri="{FF2B5EF4-FFF2-40B4-BE49-F238E27FC236}">
                <a16:creationId xmlns:a16="http://schemas.microsoft.com/office/drawing/2014/main" id="{CC20A6AD-20C2-42AC-AB48-3C0878941EE6}"/>
              </a:ext>
            </a:extLst>
          </p:cNvPr>
          <p:cNvSpPr>
            <a:spLocks xmlns:a="http://schemas.openxmlformats.org/drawingml/2006/main" noGrp="1"/>
          </p:cNvSpPr>
          <p:nvPr/>
        </p:nvSpPr>
        <p:spPr>
          <a:xfrm xmlns:a="http://schemas.openxmlformats.org/drawingml/2006/main">
            <a:off x="7743825" y="2552700"/>
            <a:ext cx="3790950" cy="3171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63C3D"/>
                </a:solidFill>
                <a:latin typeface="DejaVu Sans"/>
                <a:ea typeface="DejaVu Sans"/>
                <a:cs typeface="DejaVu Sans"/>
              </a:defRPr>
            </a:defPPr>
          </a:lstStyle>
          <a:p xmlns:a="http://schemas.openxmlformats.org/drawingml/2006/main">
            <a:pPr algn="l">
              <a:buNone/>
              <a:defRPr sz="1800" b="0">
                <a:solidFill>
                  <a:srgbClr val="163C3D"/>
                </a:solidFill>
                <a:latin typeface="DejaVu Sans"/>
                <a:ea typeface="DejaVu Sans"/>
                <a:cs typeface="DejaVu Sans"/>
              </a:defRPr>
            </a:pPr>
            <a:r>
              <a:rPr sz="1800" b="0">
                <a:solidFill>
                  <a:srgbClr val="163C3D"/>
                </a:solidFill>
                <a:latin typeface="DejaVu Sans"/>
                <a:ea typeface="DejaVu Sans"/>
                <a:cs typeface="DejaVu Sans"/>
              </a:rPr>
              <a:t>Shade for outdoor use</a:t>
            </a:r>
          </a:p>
          <a:p xmlns:a="http://schemas.openxmlformats.org/drawingml/2006/main">
            <a:r>
              <a:t/>
            </a:r>
          </a:p>
          <a:p xmlns:a="http://schemas.openxmlformats.org/drawingml/2006/main">
            <a:pPr algn="l">
              <a:buNone/>
              <a:defRPr sz="1800" b="0">
                <a:solidFill>
                  <a:srgbClr val="163C3D"/>
                </a:solidFill>
                <a:latin typeface="DejaVu Sans"/>
                <a:ea typeface="DejaVu Sans"/>
                <a:cs typeface="DejaVu Sans"/>
              </a:defRPr>
            </a:pPr>
            <a:r>
              <a:rPr sz="1800" b="0">
                <a:solidFill>
                  <a:srgbClr val="163C3D"/>
                </a:solidFill>
                <a:latin typeface="DejaVu Sans"/>
                <a:ea typeface="DejaVu Sans"/>
                <a:cs typeface="DejaVu Sans"/>
              </a:rPr>
              <a:t>Planting feasibility and water needs</a:t>
            </a:r>
          </a:p>
          <a:p xmlns:a="http://schemas.openxmlformats.org/drawingml/2006/main">
            <a:r>
              <a:t/>
            </a:r>
          </a:p>
          <a:p xmlns:a="http://schemas.openxmlformats.org/drawingml/2006/main">
            <a:pPr algn="l">
              <a:buNone/>
              <a:defRPr sz="1800" b="0">
                <a:solidFill>
                  <a:srgbClr val="163C3D"/>
                </a:solidFill>
                <a:latin typeface="DejaVu Sans"/>
                <a:ea typeface="DejaVu Sans"/>
                <a:cs typeface="DejaVu Sans"/>
              </a:defRPr>
            </a:pPr>
            <a:r>
              <a:rPr sz="1800" b="0">
                <a:solidFill>
                  <a:srgbClr val="163C3D"/>
                </a:solidFill>
                <a:latin typeface="DejaVu Sans"/>
                <a:ea typeface="DejaVu Sans"/>
                <a:cs typeface="DejaVu Sans"/>
              </a:rPr>
              <a:t>Reflective roofs, after verifying roofs</a:t>
            </a:r>
          </a:p>
          <a:p xmlns:a="http://schemas.openxmlformats.org/drawingml/2006/main">
            <a:r>
              <a:t/>
            </a:r>
          </a:p>
          <a:p xmlns:a="http://schemas.openxmlformats.org/drawingml/2006/main">
            <a:pPr algn="l">
              <a:buNone/>
              <a:defRPr sz="1800" b="0">
                <a:solidFill>
                  <a:srgbClr val="163C3D"/>
                </a:solidFill>
                <a:latin typeface="DejaVu Sans"/>
                <a:ea typeface="DejaVu Sans"/>
                <a:cs typeface="DejaVu Sans"/>
              </a:defRPr>
            </a:pPr>
            <a:r>
              <a:rPr sz="1800" b="0">
                <a:solidFill>
                  <a:srgbClr val="163C3D"/>
                </a:solidFill>
                <a:latin typeface="DejaVu Sans"/>
                <a:ea typeface="DejaVu Sans"/>
                <a:cs typeface="DejaVu Sans"/>
              </a:rPr>
              <a:t>Cooler pavements, after verifying paving</a:t>
            </a:r>
          </a:p>
        </p:txBody>
      </p:sp>
      <p:sp>
        <p:nvSpPr>
          <p:cNvPr id="8" name="text">
            <a:extLst xmlns:a="http://schemas.openxmlformats.org/drawingml/2006/main">
              <a:ext uri="{FF2B5EF4-FFF2-40B4-BE49-F238E27FC236}">
                <a16:creationId xmlns:a16="http://schemas.microsoft.com/office/drawing/2014/main" id="{50DD5B8B-3938-4D84-B739-D8E25AEBD3D9}"/>
              </a:ext>
            </a:extLst>
          </p:cNvPr>
          <p:cNvSpPr>
            <a:spLocks xmlns:a="http://schemas.openxmlformats.org/drawingml/2006/main" noGrp="1"/>
          </p:cNvSpPr>
          <p:nvPr/>
        </p:nvSpPr>
        <p:spPr>
          <a:xfrm xmlns:a="http://schemas.openxmlformats.org/drawingml/2006/main">
            <a:off x="609600" y="6134100"/>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45336"/>
                </a:solidFill>
                <a:latin typeface="DejaVu Sans"/>
                <a:ea typeface="DejaVu Sans"/>
                <a:cs typeface="DejaVu Sans"/>
              </a:defRPr>
            </a:defPPr>
          </a:lstStyle>
          <a:p xmlns:a="http://schemas.openxmlformats.org/drawingml/2006/main">
            <a:pPr algn="l">
              <a:buNone/>
              <a:defRPr sz="1350" b="0">
                <a:solidFill>
                  <a:srgbClr val="B45336"/>
                </a:solidFill>
                <a:latin typeface="DejaVu Sans"/>
                <a:ea typeface="DejaVu Sans"/>
                <a:cs typeface="DejaVu Sans"/>
              </a:defRPr>
            </a:pPr>
            <a:r>
              <a:rPr sz="1350" b="0">
                <a:solidFill>
                  <a:srgbClr val="B45336"/>
                </a:solidFill>
                <a:latin typeface="DejaVu Sans"/>
                <a:ea typeface="DejaVu Sans"/>
                <a:cs typeface="DejaVu Sans"/>
              </a:rPr>
              <a:t>Interactive HTML supports cell selection, layer changes and CSV export.</a:t>
            </a:r>
          </a:p>
        </p:txBody>
      </p:sp>
      <p:sp>
        <p:nvSpPr>
          <p:cNvPr id="9" name="text">
            <a:extLst xmlns:a="http://schemas.openxmlformats.org/drawingml/2006/main">
              <a:ext uri="{FF2B5EF4-FFF2-40B4-BE49-F238E27FC236}">
                <a16:creationId xmlns:a16="http://schemas.microsoft.com/office/drawing/2014/main" id="{8945EFBD-E025-494F-AC5F-E02014E5D9FE}"/>
              </a:ext>
            </a:extLst>
          </p:cNvPr>
          <p:cNvSpPr>
            <a:spLocks xmlns:a="http://schemas.openxmlformats.org/drawingml/2006/main" noGrp="1"/>
          </p:cNvSpPr>
          <p:nvPr/>
        </p:nvSpPr>
        <p:spPr>
          <a:xfrm xmlns:a="http://schemas.openxmlformats.org/drawingml/2006/main">
            <a:off x="609600" y="57912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6967"/>
                </a:solidFill>
                <a:latin typeface="DejaVu Sans"/>
                <a:ea typeface="DejaVu Sans"/>
                <a:cs typeface="DejaVu Sans"/>
              </a:defRPr>
            </a:defPPr>
          </a:lstStyle>
          <a:p xmlns:a="http://schemas.openxmlformats.org/drawingml/2006/main">
            <a:pPr algn="l">
              <a:buNone/>
              <a:defRPr sz="1500" b="0">
                <a:solidFill>
                  <a:srgbClr val="596967"/>
                </a:solidFill>
                <a:latin typeface="DejaVu Sans"/>
                <a:ea typeface="DejaVu Sans"/>
                <a:cs typeface="DejaVu Sans"/>
              </a:defRPr>
            </a:pPr>
            <a:r>
              <a:rPr sz="1500" b="0">
                <a:solidFill>
                  <a:srgbClr val="596967"/>
                </a:solidFill>
                <a:latin typeface="DejaVu Sans"/>
                <a:ea typeface="DejaVu Sans"/>
                <a:cs typeface="DejaVu Sans"/>
              </a:rPr>
              <a:t>Source: results/priority_table.csv. Each candidate action needs a site check.</a:t>
            </a:r>
          </a:p>
        </p:txBody>
      </p:sp>
    </p:spTree>
    <p:extLst>
      <p:ext uri="{BB962C8B-B14F-4D97-AF65-F5344CB8AC3E}">
        <p14:creationId xmlns:p14="http://schemas.microsoft.com/office/powerpoint/2010/main" val="1387199887"/>
      </p:ext>
    </p:extLst>
  </p:cSld>
</p:sld>
</file>

<file path=ppt/slides/slide10.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5EE5FA42-8AE5-4EF8-BCBC-A08A0EF5BB9B}"/>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Spatial validation shows limited generalisation</a:t>
            </a:r>
          </a:p>
        </p:txBody>
      </p:sp>
      <p:sp>
        <p:nvSpPr>
          <p:cNvPr id="2" name="text">
            <a:extLst xmlns:a="http://schemas.openxmlformats.org/drawingml/2006/main">
              <a:ext uri="{FF2B5EF4-FFF2-40B4-BE49-F238E27FC236}">
                <a16:creationId xmlns:a16="http://schemas.microsoft.com/office/drawing/2014/main" id="{A2D2B3BC-1AE6-4CFE-B4C6-BCE71CB4CD5D}"/>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AC8DCE6F-CF6F-42E3-AB8D-45BDF4AC6DF8}"/>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10</a:t>
            </a:r>
          </a:p>
        </p:txBody>
      </p:sp>
      <p:graphicFrame>
        <p:nvGraphicFramePr>
          <p:cNvPr id="4" name="">
            <a:extLst xmlns:a="http://schemas.openxmlformats.org/drawingml/2006/main">
              <a:ext uri="{FF2B5EF4-FFF2-40B4-BE49-F238E27FC236}">
                <a16:creationId xmlns:a16="http://schemas.microsoft.com/office/drawing/2014/main" id="{03047D52-D638-4813-BE27-1969641C2402}"/>
              </a:ext>
            </a:extLst>
          </p:cNvPr>
          <p:cNvGraphicFramePr/>
          <p:nvPr/>
        </p:nvGraphicFramePr>
        <p:xfrm>
          <a:off xmlns:a="http://schemas.openxmlformats.org/drawingml/2006/main" x="609600" y="1638300"/>
          <a:ext xmlns:a="http://schemas.openxmlformats.org/drawingml/2006/main" cx="6762750" cy="2924175"/>
        </p:xfrm>
        <a:graphic xmlns:a="http://schemas.openxmlformats.org/drawingml/2006/main">
          <a:graphicData uri="http://schemas.openxmlformats.org/drawingml/2006/table">
            <a:tbl>
              <a:tblPr firstRow="0" bandRow="0"/>
              <a:tblGrid>
                <a:gridCol w="3238500"/>
                <a:gridCol w="1762125"/>
                <a:gridCol w="1762125"/>
              </a:tblGrid>
              <a:tr h="533400">
                <a:tc>
                  <a:txBody>
                    <a:bodyPr lIns="142875" tIns="95250" rIns="142875" bIns="95250">
                      <a:noAutofit/>
                    </a:bodyPr>
                    <a:lstStyle/>
                    <a:p>
                      <a:r>
                        <a:rPr sz="1650" b="1">
                          <a:solidFill>
                            <a:srgbClr val="F6F2E9"/>
                          </a:solidFill>
                          <a:latin typeface="DejaVu Sans"/>
                          <a:ea typeface="DejaVu Sans"/>
                          <a:cs typeface="DejaVu Sans"/>
                        </a:rPr>
                        <a:t>Model</a:t>
                      </a:r>
                    </a:p>
                  </a:txBody>
                  <a:tcPr marL="91440" marR="91440" marT="45720" marB="45720" anchor="ctr">
                    <a:solidFill>
                      <a:srgbClr val="163C3D"/>
                    </a:solidFill>
                  </a:tcPr>
                </a:tc>
                <a:tc>
                  <a:txBody>
                    <a:bodyPr lIns="142875" tIns="95250" rIns="142875" bIns="95250">
                      <a:noAutofit/>
                    </a:bodyPr>
                    <a:lstStyle/>
                    <a:p>
                      <a:r>
                        <a:rPr sz="1650" b="1">
                          <a:solidFill>
                            <a:srgbClr val="F6F2E9"/>
                          </a:solidFill>
                          <a:latin typeface="DejaVu Sans"/>
                          <a:ea typeface="DejaVu Sans"/>
                          <a:cs typeface="DejaVu Sans"/>
                        </a:rPr>
                        <a:t>Mean MAE</a:t>
                      </a:r>
                    </a:p>
                  </a:txBody>
                  <a:tcPr marL="91440" marR="91440" marT="45720" marB="45720" anchor="ctr">
                    <a:solidFill>
                      <a:srgbClr val="163C3D"/>
                    </a:solidFill>
                  </a:tcPr>
                </a:tc>
                <a:tc>
                  <a:txBody>
                    <a:bodyPr lIns="142875" tIns="95250" rIns="142875" bIns="95250">
                      <a:noAutofit/>
                    </a:bodyPr>
                    <a:lstStyle/>
                    <a:p>
                      <a:r>
                        <a:rPr sz="1650" b="1">
                          <a:solidFill>
                            <a:srgbClr val="F6F2E9"/>
                          </a:solidFill>
                          <a:latin typeface="DejaVu Sans"/>
                          <a:ea typeface="DejaVu Sans"/>
                          <a:cs typeface="DejaVu Sans"/>
                        </a:rPr>
                        <a:t>Mean RMSE</a:t>
                      </a:r>
                    </a:p>
                  </a:txBody>
                  <a:tcPr marL="91440" marR="91440" marT="45720" marB="45720" anchor="ctr">
                    <a:solidFill>
                      <a:srgbClr val="163C3D"/>
                    </a:solidFill>
                  </a:tcPr>
                </a:tc>
              </a:tr>
              <a:tr h="796925">
                <a:tc>
                  <a:txBody>
                    <a:bodyPr lIns="142875" tIns="95250" rIns="142875" bIns="95250">
                      <a:noAutofit/>
                    </a:bodyPr>
                    <a:lstStyle/>
                    <a:p>
                      <a:r>
                        <a:rPr sz="1800" b="1">
                          <a:solidFill>
                            <a:srgbClr val="163C3D"/>
                          </a:solidFill>
                          <a:latin typeface="DejaVu Sans"/>
                          <a:ea typeface="DejaVu Sans"/>
                          <a:cs typeface="DejaVu Sans"/>
                        </a:rPr>
                        <a:t>Mean baseline</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0.817 °C</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0.934 °C</a:t>
                      </a:r>
                    </a:p>
                  </a:txBody>
                  <a:tcPr marL="91440" marR="91440" marT="45720" marB="45720" anchor="ctr">
                    <a:solidFill>
                      <a:srgbClr val="F6F2E9"/>
                    </a:solidFill>
                  </a:tcPr>
                </a:tc>
              </a:tr>
              <a:tr h="796925">
                <a:tc>
                  <a:txBody>
                    <a:bodyPr lIns="142875" tIns="95250" rIns="142875" bIns="95250">
                      <a:noAutofit/>
                    </a:bodyPr>
                    <a:lstStyle/>
                    <a:p>
                      <a:r>
                        <a:rPr sz="1800" b="1">
                          <a:solidFill>
                            <a:srgbClr val="163C3D"/>
                          </a:solidFill>
                          <a:latin typeface="DejaVu Sans"/>
                          <a:ea typeface="DejaVu Sans"/>
                          <a:cs typeface="DejaVu Sans"/>
                        </a:rPr>
                        <a:t>Linear regression</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0.966 °C</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1.183 °C</a:t>
                      </a:r>
                    </a:p>
                  </a:txBody>
                  <a:tcPr marL="91440" marR="91440" marT="45720" marB="45720" anchor="ctr">
                    <a:solidFill>
                      <a:srgbClr val="F6F2E9"/>
                    </a:solidFill>
                  </a:tcPr>
                </a:tc>
              </a:tr>
              <a:tr h="796925">
                <a:tc>
                  <a:txBody>
                    <a:bodyPr lIns="142875" tIns="95250" rIns="142875" bIns="95250">
                      <a:noAutofit/>
                    </a:bodyPr>
                    <a:lstStyle/>
                    <a:p>
                      <a:r>
                        <a:rPr sz="1800" b="1">
                          <a:solidFill>
                            <a:srgbClr val="163C3D"/>
                          </a:solidFill>
                          <a:latin typeface="DejaVu Sans"/>
                          <a:ea typeface="DejaVu Sans"/>
                          <a:cs typeface="DejaVu Sans"/>
                        </a:rPr>
                        <a:t>Random forest</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0.746 °C</a:t>
                      </a:r>
                    </a:p>
                  </a:txBody>
                  <a:tcPr marL="91440" marR="91440" marT="45720" marB="45720" anchor="ctr">
                    <a:solidFill>
                      <a:srgbClr val="F6F2E9"/>
                    </a:solidFill>
                  </a:tcPr>
                </a:tc>
                <a:tc>
                  <a:txBody>
                    <a:bodyPr lIns="142875" tIns="95250" rIns="142875" bIns="95250">
                      <a:noAutofit/>
                    </a:bodyPr>
                    <a:lstStyle/>
                    <a:p>
                      <a:r>
                        <a:rPr sz="1800" b="0">
                          <a:solidFill>
                            <a:srgbClr val="163C3D"/>
                          </a:solidFill>
                          <a:latin typeface="DejaVu Sans"/>
                          <a:ea typeface="DejaVu Sans"/>
                          <a:cs typeface="DejaVu Sans"/>
                        </a:rPr>
                        <a:t>0.878 °C</a:t>
                      </a:r>
                    </a:p>
                  </a:txBody>
                  <a:tcPr marL="91440" marR="91440" marT="45720" marB="45720" anchor="ctr">
                    <a:solidFill>
                      <a:srgbClr val="F6F2E9"/>
                    </a:solidFill>
                  </a:tcPr>
                </a:tc>
              </a:tr>
            </a:tbl>
          </a:graphicData>
        </a:graphic>
      </p:graphicFrame>
      <p:sp>
        <p:nvSpPr>
          <p:cNvPr id="5" name="text">
            <a:extLst xmlns:a="http://schemas.openxmlformats.org/drawingml/2006/main">
              <a:ext uri="{FF2B5EF4-FFF2-40B4-BE49-F238E27FC236}">
                <a16:creationId xmlns:a16="http://schemas.microsoft.com/office/drawing/2014/main" id="{8E906149-31EC-4974-853F-2C1B71601952}"/>
              </a:ext>
            </a:extLst>
          </p:cNvPr>
          <p:cNvSpPr>
            <a:spLocks xmlns:a="http://schemas.openxmlformats.org/drawingml/2006/main" noGrp="1"/>
          </p:cNvSpPr>
          <p:nvPr/>
        </p:nvSpPr>
        <p:spPr>
          <a:xfrm xmlns:a="http://schemas.openxmlformats.org/drawingml/2006/main">
            <a:off x="7896225" y="1638300"/>
            <a:ext cx="3676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Validation design</a:t>
            </a:r>
          </a:p>
        </p:txBody>
      </p:sp>
      <p:sp>
        <p:nvSpPr>
          <p:cNvPr id="6" name="text">
            <a:extLst xmlns:a="http://schemas.openxmlformats.org/drawingml/2006/main">
              <a:ext uri="{FF2B5EF4-FFF2-40B4-BE49-F238E27FC236}">
                <a16:creationId xmlns:a16="http://schemas.microsoft.com/office/drawing/2014/main" id="{896C9419-FCD6-4FF7-A47C-46D34B878DCC}"/>
              </a:ext>
            </a:extLst>
          </p:cNvPr>
          <p:cNvSpPr>
            <a:spLocks xmlns:a="http://schemas.openxmlformats.org/drawingml/2006/main" noGrp="1"/>
          </p:cNvSpPr>
          <p:nvPr/>
        </p:nvSpPr>
        <p:spPr>
          <a:xfrm xmlns:a="http://schemas.openxmlformats.org/drawingml/2006/main">
            <a:off x="7896225" y="2133600"/>
            <a:ext cx="36861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3C3D"/>
                </a:solidFill>
                <a:latin typeface="DejaVu Sans"/>
                <a:ea typeface="DejaVu Sans"/>
                <a:cs typeface="DejaVu Sans"/>
              </a:defRPr>
            </a:defPPr>
          </a:lstStyle>
          <a:p xmlns:a="http://schemas.openxmlformats.org/drawingml/2006/main">
            <a:pPr algn="l">
              <a:buNone/>
              <a:defRPr sz="2025" b="0">
                <a:solidFill>
                  <a:srgbClr val="163C3D"/>
                </a:solidFill>
                <a:latin typeface="DejaVu Sans"/>
                <a:ea typeface="DejaVu Sans"/>
                <a:cs typeface="DejaVu Sans"/>
              </a:defRPr>
            </a:pPr>
            <a:r>
              <a:rPr sz="2025" b="0">
                <a:solidFill>
                  <a:srgbClr val="163C3D"/>
                </a:solidFill>
                <a:latin typeface="DejaVu Sans"/>
                <a:ea typeface="DejaVu Sans"/>
                <a:cs typeface="DejaVu Sans"/>
              </a:rPr>
              <a:t>Four spatial folds</a:t>
            </a:r>
          </a:p>
          <a:p xmlns:a="http://schemas.openxmlformats.org/drawingml/2006/main">
            <a:pPr algn="l">
              <a:buNone/>
              <a:defRPr sz="2025" b="0">
                <a:solidFill>
                  <a:srgbClr val="163C3D"/>
                </a:solidFill>
                <a:latin typeface="DejaVu Sans"/>
                <a:ea typeface="DejaVu Sans"/>
                <a:cs typeface="DejaVu Sans"/>
              </a:defRPr>
            </a:pPr>
            <a:r>
              <a:rPr sz="2025" b="0">
                <a:solidFill>
                  <a:srgbClr val="163C3D"/>
                </a:solidFill>
                <a:latin typeface="DejaVu Sans"/>
                <a:ea typeface="DejaVu Sans"/>
                <a:cs typeface="DejaVu Sans"/>
              </a:rPr>
              <a:t>Training cells &gt;200 m</a:t>
            </a:r>
          </a:p>
          <a:p xmlns:a="http://schemas.openxmlformats.org/drawingml/2006/main">
            <a:pPr algn="l">
              <a:buNone/>
              <a:defRPr sz="2025" b="0">
                <a:solidFill>
                  <a:srgbClr val="163C3D"/>
                </a:solidFill>
                <a:latin typeface="DejaVu Sans"/>
                <a:ea typeface="DejaVu Sans"/>
                <a:cs typeface="DejaVu Sans"/>
              </a:defRPr>
            </a:pPr>
            <a:r>
              <a:rPr sz="2025" b="0">
                <a:solidFill>
                  <a:srgbClr val="163C3D"/>
                </a:solidFill>
                <a:latin typeface="DejaVu Sans"/>
                <a:ea typeface="DejaVu Sans"/>
                <a:cs typeface="DejaVu Sans"/>
              </a:rPr>
              <a:t>from test-cell centres</a:t>
            </a:r>
          </a:p>
        </p:txBody>
      </p:sp>
      <p:sp>
        <p:nvSpPr>
          <p:cNvPr id="7" name="text">
            <a:extLst xmlns:a="http://schemas.openxmlformats.org/drawingml/2006/main">
              <a:ext uri="{FF2B5EF4-FFF2-40B4-BE49-F238E27FC236}">
                <a16:creationId xmlns:a16="http://schemas.microsoft.com/office/drawing/2014/main" id="{42250AC1-5621-449B-B761-98ED61A54E75}"/>
              </a:ext>
            </a:extLst>
          </p:cNvPr>
          <p:cNvSpPr>
            <a:spLocks xmlns:a="http://schemas.openxmlformats.org/drawingml/2006/main" noGrp="1"/>
          </p:cNvSpPr>
          <p:nvPr/>
        </p:nvSpPr>
        <p:spPr>
          <a:xfrm xmlns:a="http://schemas.openxmlformats.org/drawingml/2006/main">
            <a:off x="7896225" y="3829050"/>
            <a:ext cx="36861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45336"/>
                </a:solidFill>
                <a:latin typeface="DejaVu Sans"/>
                <a:ea typeface="DejaVu Sans"/>
                <a:cs typeface="DejaVu Sans"/>
              </a:defRPr>
            </a:defPPr>
          </a:lstStyle>
          <a:p xmlns:a="http://schemas.openxmlformats.org/drawingml/2006/main">
            <a:pPr algn="l">
              <a:buNone/>
              <a:defRPr sz="2025" b="1">
                <a:solidFill>
                  <a:srgbClr val="B45336"/>
                </a:solidFill>
                <a:latin typeface="DejaVu Sans"/>
                <a:ea typeface="DejaVu Sans"/>
                <a:cs typeface="DejaVu Sans"/>
              </a:defRPr>
            </a:pPr>
            <a:r>
              <a:rPr sz="2025" b="1">
                <a:solidFill>
                  <a:srgbClr val="B45336"/>
                </a:solidFill>
                <a:latin typeface="DejaVu Sans"/>
                <a:ea typeface="DejaVu Sans"/>
                <a:cs typeface="DejaVu Sans"/>
              </a:rPr>
              <a:t>Random forest improves mean MAE by 0.071 °C. Linear regression is worse.</a:t>
            </a:r>
          </a:p>
        </p:txBody>
      </p:sp>
      <p:sp>
        <p:nvSpPr>
          <p:cNvPr id="8" name="text">
            <a:extLst xmlns:a="http://schemas.openxmlformats.org/drawingml/2006/main">
              <a:ext uri="{FF2B5EF4-FFF2-40B4-BE49-F238E27FC236}">
                <a16:creationId xmlns:a16="http://schemas.microsoft.com/office/drawing/2014/main" id="{ED57D50F-EE8B-4FB5-864C-4ADE0964E141}"/>
              </a:ext>
            </a:extLst>
          </p:cNvPr>
          <p:cNvSpPr>
            <a:spLocks xmlns:a="http://schemas.openxmlformats.org/drawingml/2006/main" noGrp="1"/>
          </p:cNvSpPr>
          <p:nvPr/>
        </p:nvSpPr>
        <p:spPr>
          <a:xfrm xmlns:a="http://schemas.openxmlformats.org/drawingml/2006/main">
            <a:off x="609600" y="5143500"/>
            <a:ext cx="6762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63C3D"/>
                </a:solidFill>
                <a:latin typeface="DejaVu Sans"/>
                <a:ea typeface="DejaVu Sans"/>
                <a:cs typeface="DejaVu Sans"/>
              </a:defRPr>
            </a:defPPr>
          </a:lstStyle>
          <a:p xmlns:a="http://schemas.openxmlformats.org/drawingml/2006/main">
            <a:pPr algn="l">
              <a:buNone/>
              <a:defRPr sz="2175" b="1">
                <a:solidFill>
                  <a:srgbClr val="163C3D"/>
                </a:solidFill>
                <a:latin typeface="DejaVu Sans"/>
                <a:ea typeface="DejaVu Sans"/>
                <a:cs typeface="DejaVu Sans"/>
              </a:defRPr>
            </a:pPr>
            <a:r>
              <a:rPr sz="2175" b="1">
                <a:solidFill>
                  <a:srgbClr val="163C3D"/>
                </a:solidFill>
                <a:latin typeface="DejaVu Sans"/>
                <a:ea typeface="DejaVu Sans"/>
                <a:cs typeface="DejaVu Sans"/>
              </a:rPr>
              <a:t>All models have negative mean fold R². More dates and independent sites are needed.</a:t>
            </a:r>
          </a:p>
        </p:txBody>
      </p:sp>
      <p:sp>
        <p:nvSpPr>
          <p:cNvPr id="9" name="text">
            <a:extLst xmlns:a="http://schemas.openxmlformats.org/drawingml/2006/main">
              <a:ext uri="{FF2B5EF4-FFF2-40B4-BE49-F238E27FC236}">
                <a16:creationId xmlns:a16="http://schemas.microsoft.com/office/drawing/2014/main" id="{BBEF4D57-03EA-49B3-B3C9-4C87B4FC797D}"/>
              </a:ext>
            </a:extLst>
          </p:cNvPr>
          <p:cNvSpPr>
            <a:spLocks xmlns:a="http://schemas.openxmlformats.org/drawingml/2006/main" noGrp="1"/>
          </p:cNvSpPr>
          <p:nvPr/>
        </p:nvSpPr>
        <p:spPr>
          <a:xfrm xmlns:a="http://schemas.openxmlformats.org/drawingml/2006/main">
            <a:off x="609600" y="6076950"/>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96967"/>
                </a:solidFill>
                <a:latin typeface="DejaVu Sans"/>
                <a:ea typeface="DejaVu Sans"/>
                <a:cs typeface="DejaVu Sans"/>
              </a:defRPr>
            </a:defPPr>
          </a:lstStyle>
          <a:p xmlns:a="http://schemas.openxmlformats.org/drawingml/2006/main">
            <a:pPr algn="l">
              <a:buNone/>
              <a:defRPr sz="1425" b="0">
                <a:solidFill>
                  <a:srgbClr val="596967"/>
                </a:solidFill>
                <a:latin typeface="DejaVu Sans"/>
                <a:ea typeface="DejaVu Sans"/>
                <a:cs typeface="DejaVu Sans"/>
              </a:defRPr>
            </a:pPr>
            <a:r>
              <a:rPr sz="1425" b="0">
                <a:solidFill>
                  <a:srgbClr val="596967"/>
                </a:solidFill>
                <a:latin typeface="DejaVu Sans"/>
                <a:ea typeface="DejaVu Sans"/>
                <a:cs typeface="DejaVu Sans"/>
              </a:rPr>
              <a:t>Unweighted fold averages. One observation date prevents temporal validation.</a:t>
            </a:r>
          </a:p>
        </p:txBody>
      </p:sp>
    </p:spTree>
    <p:extLst>
      <p:ext uri="{BB962C8B-B14F-4D97-AF65-F5344CB8AC3E}">
        <p14:creationId xmlns:p14="http://schemas.microsoft.com/office/powerpoint/2010/main" val="2004972005"/>
      </p:ext>
    </p:extLst>
  </p:cSld>
</p:sld>
</file>

<file path=ppt/slides/slide11.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770F4DC2-D6CA-451C-81A5-7A2287F664EA}"/>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Scope and limitations</a:t>
            </a:r>
          </a:p>
        </p:txBody>
      </p:sp>
      <p:sp>
        <p:nvSpPr>
          <p:cNvPr id="2" name="text">
            <a:extLst xmlns:a="http://schemas.openxmlformats.org/drawingml/2006/main">
              <a:ext uri="{FF2B5EF4-FFF2-40B4-BE49-F238E27FC236}">
                <a16:creationId xmlns:a16="http://schemas.microsoft.com/office/drawing/2014/main" id="{3B5DB16E-7AEB-4192-90E9-0DAEF0DA0C7A}"/>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271A8F36-B9C9-40E9-B101-B34A9BA64D40}"/>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11</a:t>
            </a:r>
          </a:p>
        </p:txBody>
      </p:sp>
      <p:sp>
        <p:nvSpPr>
          <p:cNvPr id="4" name="text">
            <a:extLst xmlns:a="http://schemas.openxmlformats.org/drawingml/2006/main">
              <a:ext uri="{FF2B5EF4-FFF2-40B4-BE49-F238E27FC236}">
                <a16:creationId xmlns:a16="http://schemas.microsoft.com/office/drawing/2014/main" id="{79B9E22A-FF5F-46CA-9599-C4EAD6DE5550}"/>
              </a:ext>
            </a:extLst>
          </p:cNvPr>
          <p:cNvSpPr>
            <a:spLocks xmlns:a="http://schemas.openxmlformats.org/drawingml/2006/main" noGrp="1"/>
          </p:cNvSpPr>
          <p:nvPr/>
        </p:nvSpPr>
        <p:spPr>
          <a:xfrm xmlns:a="http://schemas.openxmlformats.org/drawingml/2006/main">
            <a:off x="609600" y="16192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One date</a:t>
            </a:r>
          </a:p>
        </p:txBody>
      </p:sp>
      <p:sp>
        <p:nvSpPr>
          <p:cNvPr id="5" name="text">
            <a:extLst xmlns:a="http://schemas.openxmlformats.org/drawingml/2006/main">
              <a:ext uri="{FF2B5EF4-FFF2-40B4-BE49-F238E27FC236}">
                <a16:creationId xmlns:a16="http://schemas.microsoft.com/office/drawing/2014/main" id="{73288A0E-C334-4A30-845C-46741C6202AF}"/>
              </a:ext>
            </a:extLst>
          </p:cNvPr>
          <p:cNvSpPr>
            <a:spLocks xmlns:a="http://schemas.openxmlformats.org/drawingml/2006/main" noGrp="1"/>
          </p:cNvSpPr>
          <p:nvPr/>
        </p:nvSpPr>
        <p:spPr>
          <a:xfrm xmlns:a="http://schemas.openxmlformats.org/drawingml/2006/main">
            <a:off x="4429125" y="1619250"/>
            <a:ext cx="7077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C3D"/>
                </a:solidFill>
                <a:latin typeface="DejaVu Sans"/>
                <a:ea typeface="DejaVu Sans"/>
                <a:cs typeface="DejaVu Sans"/>
              </a:defRPr>
            </a:defPPr>
          </a:lstStyle>
          <a:p xmlns:a="http://schemas.openxmlformats.org/drawingml/2006/main">
            <a:pPr algn="l">
              <a:buNone/>
              <a:defRPr sz="2100" b="0">
                <a:solidFill>
                  <a:srgbClr val="163C3D"/>
                </a:solidFill>
                <a:latin typeface="DejaVu Sans"/>
                <a:ea typeface="DejaVu Sans"/>
                <a:cs typeface="DejaVu Sans"/>
              </a:defRPr>
            </a:pPr>
            <a:r>
              <a:rPr sz="2100" b="0">
                <a:solidFill>
                  <a:srgbClr val="163C3D"/>
                </a:solidFill>
                <a:latin typeface="DejaVu Sans"/>
                <a:ea typeface="DejaVu Sans"/>
                <a:cs typeface="DejaVu Sans"/>
              </a:rPr>
              <a:t>No hotspot persistence or held-out-date test.</a:t>
            </a:r>
          </a:p>
        </p:txBody>
      </p:sp>
      <p:sp>
        <p:nvSpPr>
          <p:cNvPr id="6" name="text">
            <a:extLst xmlns:a="http://schemas.openxmlformats.org/drawingml/2006/main">
              <a:ext uri="{FF2B5EF4-FFF2-40B4-BE49-F238E27FC236}">
                <a16:creationId xmlns:a16="http://schemas.microsoft.com/office/drawing/2014/main" id="{F51AF668-1CB4-4CA1-BE20-FD336AE40023}"/>
              </a:ext>
            </a:extLst>
          </p:cNvPr>
          <p:cNvSpPr>
            <a:spLocks xmlns:a="http://schemas.openxmlformats.org/drawingml/2006/main" noGrp="1"/>
          </p:cNvSpPr>
          <p:nvPr/>
        </p:nvSpPr>
        <p:spPr>
          <a:xfrm xmlns:a="http://schemas.openxmlformats.org/drawingml/2006/main">
            <a:off x="609600" y="26765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Independent window</a:t>
            </a:r>
          </a:p>
        </p:txBody>
      </p:sp>
      <p:sp>
        <p:nvSpPr>
          <p:cNvPr id="7" name="text">
            <a:extLst xmlns:a="http://schemas.openxmlformats.org/drawingml/2006/main">
              <a:ext uri="{FF2B5EF4-FFF2-40B4-BE49-F238E27FC236}">
                <a16:creationId xmlns:a16="http://schemas.microsoft.com/office/drawing/2014/main" id="{137F3320-C69C-43C6-B0A3-6B0C515027DC}"/>
              </a:ext>
            </a:extLst>
          </p:cNvPr>
          <p:cNvSpPr>
            <a:spLocks xmlns:a="http://schemas.openxmlformats.org/drawingml/2006/main" noGrp="1"/>
          </p:cNvSpPr>
          <p:nvPr/>
        </p:nvSpPr>
        <p:spPr>
          <a:xfrm xmlns:a="http://schemas.openxmlformats.org/drawingml/2006/main">
            <a:off x="4429125" y="2676525"/>
            <a:ext cx="7077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C3D"/>
                </a:solidFill>
                <a:latin typeface="DejaVu Sans"/>
                <a:ea typeface="DejaVu Sans"/>
                <a:cs typeface="DejaVu Sans"/>
              </a:defRPr>
            </a:defPPr>
          </a:lstStyle>
          <a:p xmlns:a="http://schemas.openxmlformats.org/drawingml/2006/main">
            <a:pPr algn="l">
              <a:buNone/>
              <a:defRPr sz="2100" b="0">
                <a:solidFill>
                  <a:srgbClr val="163C3D"/>
                </a:solidFill>
                <a:latin typeface="DejaVu Sans"/>
                <a:ea typeface="DejaVu Sans"/>
                <a:cs typeface="DejaVu Sans"/>
              </a:defRPr>
            </a:pPr>
            <a:r>
              <a:rPr sz="2100" b="0">
                <a:solidFill>
                  <a:srgbClr val="163C3D"/>
                </a:solidFill>
                <a:latin typeface="DejaVu Sans"/>
                <a:ea typeface="DejaVu Sans"/>
                <a:cs typeface="DejaVu Sans"/>
              </a:rPr>
              <a:t>The 1 km² demonstration does not represent all of M11–M12.</a:t>
            </a:r>
          </a:p>
        </p:txBody>
      </p:sp>
      <p:sp>
        <p:nvSpPr>
          <p:cNvPr id="8" name="text">
            <a:extLst xmlns:a="http://schemas.openxmlformats.org/drawingml/2006/main">
              <a:ext uri="{FF2B5EF4-FFF2-40B4-BE49-F238E27FC236}">
                <a16:creationId xmlns:a16="http://schemas.microsoft.com/office/drawing/2014/main" id="{61835850-37D6-4C7B-9C81-833DD8C6E54D}"/>
              </a:ext>
            </a:extLst>
          </p:cNvPr>
          <p:cNvSpPr>
            <a:spLocks xmlns:a="http://schemas.openxmlformats.org/drawingml/2006/main" noGrp="1"/>
          </p:cNvSpPr>
          <p:nvPr/>
        </p:nvSpPr>
        <p:spPr>
          <a:xfrm xmlns:a="http://schemas.openxmlformats.org/drawingml/2006/main">
            <a:off x="609600" y="37338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Prepared satellite values</a:t>
            </a:r>
          </a:p>
        </p:txBody>
      </p:sp>
      <p:sp>
        <p:nvSpPr>
          <p:cNvPr id="9" name="text">
            <a:extLst xmlns:a="http://schemas.openxmlformats.org/drawingml/2006/main">
              <a:ext uri="{FF2B5EF4-FFF2-40B4-BE49-F238E27FC236}">
                <a16:creationId xmlns:a16="http://schemas.microsoft.com/office/drawing/2014/main" id="{A9BEF5AE-277C-4864-A591-B1AED688C80F}"/>
              </a:ext>
            </a:extLst>
          </p:cNvPr>
          <p:cNvSpPr>
            <a:spLocks xmlns:a="http://schemas.openxmlformats.org/drawingml/2006/main" noGrp="1"/>
          </p:cNvSpPr>
          <p:nvPr/>
        </p:nvSpPr>
        <p:spPr>
          <a:xfrm xmlns:a="http://schemas.openxmlformats.org/drawingml/2006/main">
            <a:off x="4429125" y="3733800"/>
            <a:ext cx="7077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C3D"/>
                </a:solidFill>
                <a:latin typeface="DejaVu Sans"/>
                <a:ea typeface="DejaVu Sans"/>
                <a:cs typeface="DejaVu Sans"/>
              </a:defRPr>
            </a:defPPr>
          </a:lstStyle>
          <a:p xmlns:a="http://schemas.openxmlformats.org/drawingml/2006/main">
            <a:pPr algn="l">
              <a:buNone/>
              <a:defRPr sz="2100" b="0">
                <a:solidFill>
                  <a:srgbClr val="163C3D"/>
                </a:solidFill>
                <a:latin typeface="DejaVu Sans"/>
                <a:ea typeface="DejaVu Sans"/>
                <a:cs typeface="DejaVu Sans"/>
              </a:defRPr>
            </a:pPr>
            <a:r>
              <a:rPr sz="2100" b="0">
                <a:solidFill>
                  <a:srgbClr val="163C3D"/>
                </a:solidFill>
                <a:latin typeface="DejaVu Sans"/>
                <a:ea typeface="DejaVu Sans"/>
                <a:cs typeface="DejaVu Sans"/>
              </a:rPr>
              <a:t>Raw-scene calibration and masking are documented but not rerun here.</a:t>
            </a:r>
          </a:p>
        </p:txBody>
      </p:sp>
      <p:sp>
        <p:nvSpPr>
          <p:cNvPr id="10" name="text">
            <a:extLst xmlns:a="http://schemas.openxmlformats.org/drawingml/2006/main">
              <a:ext uri="{FF2B5EF4-FFF2-40B4-BE49-F238E27FC236}">
                <a16:creationId xmlns:a16="http://schemas.microsoft.com/office/drawing/2014/main" id="{76AF05DE-1BA4-4D27-A2C8-D8ED83604059}"/>
              </a:ext>
            </a:extLst>
          </p:cNvPr>
          <p:cNvSpPr>
            <a:spLocks xmlns:a="http://schemas.openxmlformats.org/drawingml/2006/main" noGrp="1"/>
          </p:cNvSpPr>
          <p:nvPr/>
        </p:nvSpPr>
        <p:spPr>
          <a:xfrm xmlns:a="http://schemas.openxmlformats.org/drawingml/2006/main">
            <a:off x="609600" y="47910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45336"/>
                </a:solidFill>
                <a:latin typeface="DejaVu Sans"/>
                <a:ea typeface="DejaVu Sans"/>
                <a:cs typeface="DejaVu Sans"/>
              </a:defRPr>
            </a:defPPr>
          </a:lstStyle>
          <a:p xmlns:a="http://schemas.openxmlformats.org/drawingml/2006/main">
            <a:pPr algn="l">
              <a:buNone/>
              <a:defRPr sz="1650" b="1">
                <a:solidFill>
                  <a:srgbClr val="B45336"/>
                </a:solidFill>
                <a:latin typeface="DejaVu Sans"/>
                <a:ea typeface="DejaVu Sans"/>
                <a:cs typeface="DejaVu Sans"/>
              </a:defRPr>
            </a:pPr>
            <a:r>
              <a:rPr sz="1650" b="1">
                <a:solidFill>
                  <a:srgbClr val="B45336"/>
                </a:solidFill>
                <a:latin typeface="DejaVu Sans"/>
                <a:ea typeface="DejaVu Sans"/>
                <a:cs typeface="DejaVu Sans"/>
              </a:rPr>
              <a:t>Surface associations</a:t>
            </a:r>
          </a:p>
        </p:txBody>
      </p:sp>
      <p:sp>
        <p:nvSpPr>
          <p:cNvPr id="11" name="text">
            <a:extLst xmlns:a="http://schemas.openxmlformats.org/drawingml/2006/main">
              <a:ext uri="{FF2B5EF4-FFF2-40B4-BE49-F238E27FC236}">
                <a16:creationId xmlns:a16="http://schemas.microsoft.com/office/drawing/2014/main" id="{95C1296D-C2CA-4B89-A8BD-CF37E2B0B588}"/>
              </a:ext>
            </a:extLst>
          </p:cNvPr>
          <p:cNvSpPr>
            <a:spLocks xmlns:a="http://schemas.openxmlformats.org/drawingml/2006/main" noGrp="1"/>
          </p:cNvSpPr>
          <p:nvPr/>
        </p:nvSpPr>
        <p:spPr>
          <a:xfrm xmlns:a="http://schemas.openxmlformats.org/drawingml/2006/main">
            <a:off x="4429125" y="4791075"/>
            <a:ext cx="7077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3C3D"/>
                </a:solidFill>
                <a:latin typeface="DejaVu Sans"/>
                <a:ea typeface="DejaVu Sans"/>
                <a:cs typeface="DejaVu Sans"/>
              </a:defRPr>
            </a:defPPr>
          </a:lstStyle>
          <a:p xmlns:a="http://schemas.openxmlformats.org/drawingml/2006/main">
            <a:pPr algn="l">
              <a:buNone/>
              <a:defRPr sz="2100" b="0">
                <a:solidFill>
                  <a:srgbClr val="163C3D"/>
                </a:solidFill>
                <a:latin typeface="DejaVu Sans"/>
                <a:ea typeface="DejaVu Sans"/>
                <a:cs typeface="DejaVu Sans"/>
              </a:defRPr>
            </a:pPr>
            <a:r>
              <a:rPr sz="2100" b="0">
                <a:solidFill>
                  <a:srgbClr val="163C3D"/>
                </a:solidFill>
                <a:latin typeface="DejaVu Sans"/>
                <a:ea typeface="DejaVu Sans"/>
                <a:cs typeface="DejaVu Sans"/>
              </a:rPr>
              <a:t>No direct human heat exposure, material validation or cooling-effect estimate.</a:t>
            </a:r>
          </a:p>
        </p:txBody>
      </p:sp>
      <p:sp>
        <p:nvSpPr>
          <p:cNvPr id="12" name="text">
            <a:extLst xmlns:a="http://schemas.openxmlformats.org/drawingml/2006/main">
              <a:ext uri="{FF2B5EF4-FFF2-40B4-BE49-F238E27FC236}">
                <a16:creationId xmlns:a16="http://schemas.microsoft.com/office/drawing/2014/main" id="{89908396-A614-48BA-807F-5598D50F37A1}"/>
              </a:ext>
            </a:extLst>
          </p:cNvPr>
          <p:cNvSpPr>
            <a:spLocks xmlns:a="http://schemas.openxmlformats.org/drawingml/2006/main" noGrp="1"/>
          </p:cNvSpPr>
          <p:nvPr/>
        </p:nvSpPr>
        <p:spPr>
          <a:xfrm xmlns:a="http://schemas.openxmlformats.org/drawingml/2006/main">
            <a:off x="609600" y="60198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45336"/>
                </a:solidFill>
                <a:latin typeface="DejaVu Sans"/>
                <a:ea typeface="DejaVu Sans"/>
                <a:cs typeface="DejaVu Sans"/>
              </a:defRPr>
            </a:defPPr>
          </a:lstStyle>
          <a:p xmlns:a="http://schemas.openxmlformats.org/drawingml/2006/main">
            <a:pPr algn="l">
              <a:buNone/>
              <a:defRPr sz="1650" b="0">
                <a:solidFill>
                  <a:srgbClr val="B45336"/>
                </a:solidFill>
                <a:latin typeface="DejaVu Sans"/>
                <a:ea typeface="DejaVu Sans"/>
                <a:cs typeface="DejaVu Sans"/>
              </a:defRPr>
            </a:pPr>
            <a:r>
              <a:rPr sz="1650" b="0">
                <a:solidFill>
                  <a:srgbClr val="B45336"/>
                </a:solidFill>
                <a:latin typeface="DejaVu Sans"/>
                <a:ea typeface="DejaVu Sans"/>
                <a:cs typeface="DejaVu Sans"/>
              </a:rPr>
              <a:t>Exact-sector expansion needs an authorised boundary and independent ground evidence.</a:t>
            </a:r>
          </a:p>
        </p:txBody>
      </p:sp>
    </p:spTree>
    <p:extLst>
      <p:ext uri="{BB962C8B-B14F-4D97-AF65-F5344CB8AC3E}">
        <p14:creationId xmlns:p14="http://schemas.microsoft.com/office/powerpoint/2010/main" val="437972606"/>
      </p:ext>
    </p:extLst>
  </p:cSld>
</p:sld>
</file>

<file path=ppt/slides/slide12.xml><?xml version="1.0" encoding="utf-8"?>
<p:sld xmlns:p="http://schemas.openxmlformats.org/presentationml/2006/main">
  <p:cSld>
    <p:bg>
      <p:bgPr>
        <a:solidFill xmlns:a="http://schemas.openxmlformats.org/drawingml/2006/main">
          <a:srgbClr val="163C3D"/>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C3546C4-E44D-458D-9911-16B6D57F5A36}"/>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6F2E9"/>
                </a:solidFill>
                <a:latin typeface="DejaVu Sans"/>
                <a:ea typeface="DejaVu Sans"/>
                <a:cs typeface="DejaVu Sans"/>
              </a:defRPr>
            </a:defPPr>
          </a:lstStyle>
          <a:p xmlns:a="http://schemas.openxmlformats.org/drawingml/2006/main">
            <a:pPr algn="l">
              <a:buNone/>
              <a:defRPr sz="3225" b="1">
                <a:solidFill>
                  <a:srgbClr val="F6F2E9"/>
                </a:solidFill>
                <a:latin typeface="DejaVu Sans"/>
                <a:ea typeface="DejaVu Sans"/>
                <a:cs typeface="DejaVu Sans"/>
              </a:defRPr>
            </a:pPr>
            <a:r>
              <a:rPr sz="3225" b="1">
                <a:solidFill>
                  <a:srgbClr val="F6F2E9"/>
                </a:solidFill>
                <a:latin typeface="DejaVu Sans"/>
                <a:ea typeface="DejaVu Sans"/>
                <a:cs typeface="DejaVu Sans"/>
              </a:rPr>
              <a:t>Expected impact</a:t>
            </a:r>
          </a:p>
        </p:txBody>
      </p:sp>
      <p:sp>
        <p:nvSpPr>
          <p:cNvPr id="2" name="text">
            <a:extLst xmlns:a="http://schemas.openxmlformats.org/drawingml/2006/main">
              <a:ext uri="{FF2B5EF4-FFF2-40B4-BE49-F238E27FC236}">
                <a16:creationId xmlns:a16="http://schemas.microsoft.com/office/drawing/2014/main" id="{A05A900A-B36A-47CB-A554-19A4556B7838}"/>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D8E4DF"/>
                </a:solidFill>
                <a:latin typeface="DejaVu Sans"/>
                <a:ea typeface="DejaVu Sans"/>
                <a:cs typeface="DejaVu Sans"/>
              </a:defRPr>
            </a:defPPr>
          </a:lstStyle>
          <a:p xmlns:a="http://schemas.openxmlformats.org/drawingml/2006/main">
            <a:pPr algn="l">
              <a:buNone/>
              <a:defRPr sz="1125" b="0">
                <a:solidFill>
                  <a:srgbClr val="D8E4DF"/>
                </a:solidFill>
                <a:latin typeface="DejaVu Sans"/>
                <a:ea typeface="DejaVu Sans"/>
                <a:cs typeface="DejaVu Sans"/>
              </a:defRPr>
            </a:pPr>
            <a:r>
              <a:rPr sz="1125" b="0">
                <a:solidFill>
                  <a:srgbClr val="D8E4DF"/>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89BC11C4-07A9-4D73-84A8-BF21880ABBD0}"/>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D8E4DF"/>
                </a:solidFill>
                <a:latin typeface="DejaVu Sans"/>
                <a:ea typeface="DejaVu Sans"/>
                <a:cs typeface="DejaVu Sans"/>
              </a:defRPr>
            </a:defPPr>
          </a:lstStyle>
          <a:p xmlns:a="http://schemas.openxmlformats.org/drawingml/2006/main">
            <a:pPr algn="l">
              <a:buNone/>
              <a:defRPr sz="1125" b="0">
                <a:solidFill>
                  <a:srgbClr val="D8E4DF"/>
                </a:solidFill>
                <a:latin typeface="DejaVu Sans"/>
                <a:ea typeface="DejaVu Sans"/>
                <a:cs typeface="DejaVu Sans"/>
              </a:defRPr>
            </a:pPr>
            <a:r>
              <a:rPr sz="1125" b="0">
                <a:solidFill>
                  <a:srgbClr val="D8E4DF"/>
                </a:solidFill>
                <a:latin typeface="DejaVu Sans"/>
                <a:ea typeface="DejaVu Sans"/>
                <a:cs typeface="DejaVu Sans"/>
              </a:rPr>
              <a:t>12</a:t>
            </a:r>
          </a:p>
        </p:txBody>
      </p:sp>
      <p:sp>
        <p:nvSpPr>
          <p:cNvPr id="4" name="text">
            <a:extLst xmlns:a="http://schemas.openxmlformats.org/drawingml/2006/main">
              <a:ext uri="{FF2B5EF4-FFF2-40B4-BE49-F238E27FC236}">
                <a16:creationId xmlns:a16="http://schemas.microsoft.com/office/drawing/2014/main" id="{0155147D-8952-456E-B1BD-33A62856B0DD}"/>
              </a:ext>
            </a:extLst>
          </p:cNvPr>
          <p:cNvSpPr>
            <a:spLocks xmlns:a="http://schemas.openxmlformats.org/drawingml/2006/main" noGrp="1"/>
          </p:cNvSpPr>
          <p:nvPr/>
        </p:nvSpPr>
        <p:spPr>
          <a:xfrm xmlns:a="http://schemas.openxmlformats.org/drawingml/2006/main">
            <a:off x="609600" y="1657350"/>
            <a:ext cx="10572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F6F2E9"/>
                </a:solidFill>
                <a:latin typeface="DejaVu Sans"/>
                <a:ea typeface="DejaVu Sans"/>
                <a:cs typeface="DejaVu Sans"/>
              </a:defRPr>
            </a:defPPr>
          </a:lstStyle>
          <a:p xmlns:a="http://schemas.openxmlformats.org/drawingml/2006/main">
            <a:pPr algn="l">
              <a:buNone/>
              <a:defRPr sz="3750" b="1">
                <a:solidFill>
                  <a:srgbClr val="F6F2E9"/>
                </a:solidFill>
                <a:latin typeface="DejaVu Sans"/>
                <a:ea typeface="DejaVu Sans"/>
                <a:cs typeface="DejaVu Sans"/>
              </a:defRPr>
            </a:pPr>
            <a:r>
              <a:rPr sz="3750" b="1">
                <a:solidFill>
                  <a:srgbClr val="F6F2E9"/>
                </a:solidFill>
                <a:latin typeface="DejaVu Sans"/>
                <a:ea typeface="DejaVu Sans"/>
                <a:cs typeface="DejaVu Sans"/>
              </a:rPr>
              <a:t>A clearer basis for</a:t>
            </a:r>
          </a:p>
          <a:p xmlns:a="http://schemas.openxmlformats.org/drawingml/2006/main">
            <a:pPr algn="l">
              <a:buNone/>
              <a:defRPr sz="3750" b="1">
                <a:solidFill>
                  <a:srgbClr val="F6F2E9"/>
                </a:solidFill>
                <a:latin typeface="DejaVu Sans"/>
                <a:ea typeface="DejaVu Sans"/>
                <a:cs typeface="DejaVu Sans"/>
              </a:defRPr>
            </a:pPr>
            <a:r>
              <a:rPr sz="3750" b="1">
                <a:solidFill>
                  <a:srgbClr val="F6F2E9"/>
                </a:solidFill>
                <a:latin typeface="DejaVu Sans"/>
                <a:ea typeface="DejaVu Sans"/>
                <a:cs typeface="DejaVu Sans"/>
              </a:rPr>
              <a:t>local cooling assessments</a:t>
            </a:r>
          </a:p>
        </p:txBody>
      </p:sp>
      <p:sp>
        <p:nvSpPr>
          <p:cNvPr id="5" name="text">
            <a:extLst xmlns:a="http://schemas.openxmlformats.org/drawingml/2006/main">
              <a:ext uri="{FF2B5EF4-FFF2-40B4-BE49-F238E27FC236}">
                <a16:creationId xmlns:a16="http://schemas.microsoft.com/office/drawing/2014/main" id="{06784E25-ECF9-475D-8678-0AD0ED741748}"/>
              </a:ext>
            </a:extLst>
          </p:cNvPr>
          <p:cNvSpPr>
            <a:spLocks xmlns:a="http://schemas.openxmlformats.org/drawingml/2006/main" noGrp="1"/>
          </p:cNvSpPr>
          <p:nvPr/>
        </p:nvSpPr>
        <p:spPr>
          <a:xfrm xmlns:a="http://schemas.openxmlformats.org/drawingml/2006/main">
            <a:off x="609600" y="3533775"/>
            <a:ext cx="102965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D8E4DF"/>
                </a:solidFill>
                <a:latin typeface="DejaVu Sans"/>
                <a:ea typeface="DejaVu Sans"/>
                <a:cs typeface="DejaVu Sans"/>
              </a:defRPr>
            </a:defPPr>
          </a:lstStyle>
          <a:p xmlns:a="http://schemas.openxmlformats.org/drawingml/2006/main">
            <a:pPr algn="l">
              <a:buNone/>
              <a:defRPr sz="2475" b="0">
                <a:solidFill>
                  <a:srgbClr val="D8E4DF"/>
                </a:solidFill>
                <a:latin typeface="DejaVu Sans"/>
                <a:ea typeface="DejaVu Sans"/>
                <a:cs typeface="DejaVu Sans"/>
              </a:defRPr>
            </a:pPr>
            <a:r>
              <a:rPr sz="2475" b="0">
                <a:solidFill>
                  <a:srgbClr val="D8E4DF"/>
                </a:solidFill>
                <a:latin typeface="DejaVu Sans"/>
                <a:ea typeface="DejaVu Sans"/>
                <a:cs typeface="DejaVu Sans"/>
              </a:rPr>
              <a:t>Planners could use traceable surface evidence to select locations for field checks and compare candidate measures.</a:t>
            </a:r>
          </a:p>
        </p:txBody>
      </p:sp>
      <p:sp>
        <p:nvSpPr>
          <p:cNvPr id="6" name="text">
            <a:extLst xmlns:a="http://schemas.openxmlformats.org/drawingml/2006/main">
              <a:ext uri="{FF2B5EF4-FFF2-40B4-BE49-F238E27FC236}">
                <a16:creationId xmlns:a16="http://schemas.microsoft.com/office/drawing/2014/main" id="{9A4D7E1F-824D-43A2-90F6-F2E055B2F24B}"/>
              </a:ext>
            </a:extLst>
          </p:cNvPr>
          <p:cNvSpPr>
            <a:spLocks xmlns:a="http://schemas.openxmlformats.org/drawingml/2006/main" noGrp="1"/>
          </p:cNvSpPr>
          <p:nvPr/>
        </p:nvSpPr>
        <p:spPr>
          <a:xfrm xmlns:a="http://schemas.openxmlformats.org/drawingml/2006/main">
            <a:off x="609600" y="53435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E5B87B"/>
                </a:solidFill>
                <a:latin typeface="DejaVu Sans"/>
                <a:ea typeface="DejaVu Sans"/>
                <a:cs typeface="DejaVu Sans"/>
              </a:defRPr>
            </a:defPPr>
          </a:lstStyle>
          <a:p xmlns:a="http://schemas.openxmlformats.org/drawingml/2006/main">
            <a:pPr algn="l">
              <a:buNone/>
              <a:defRPr sz="1650" b="1">
                <a:solidFill>
                  <a:srgbClr val="E5B87B"/>
                </a:solidFill>
                <a:latin typeface="DejaVu Sans"/>
                <a:ea typeface="DejaVu Sans"/>
                <a:cs typeface="DejaVu Sans"/>
              </a:defRPr>
            </a:pPr>
            <a:r>
              <a:rPr sz="1650" b="1">
                <a:solidFill>
                  <a:srgbClr val="E5B87B"/>
                </a:solidFill>
                <a:latin typeface="DejaVu Sans"/>
                <a:ea typeface="DejaVu Sans"/>
                <a:cs typeface="DejaVu Sans"/>
              </a:rPr>
              <a:t>Longer-term value</a:t>
            </a:r>
          </a:p>
        </p:txBody>
      </p:sp>
      <p:sp>
        <p:nvSpPr>
          <p:cNvPr id="7" name="text">
            <a:extLst xmlns:a="http://schemas.openxmlformats.org/drawingml/2006/main">
              <a:ext uri="{FF2B5EF4-FFF2-40B4-BE49-F238E27FC236}">
                <a16:creationId xmlns:a16="http://schemas.microsoft.com/office/drawing/2014/main" id="{A14B2BC0-B51C-4557-AD58-3D9368D69A3D}"/>
              </a:ext>
            </a:extLst>
          </p:cNvPr>
          <p:cNvSpPr>
            <a:spLocks xmlns:a="http://schemas.openxmlformats.org/drawingml/2006/main" noGrp="1"/>
          </p:cNvSpPr>
          <p:nvPr/>
        </p:nvSpPr>
        <p:spPr>
          <a:xfrm xmlns:a="http://schemas.openxmlformats.org/drawingml/2006/main">
            <a:off x="4667250" y="5276850"/>
            <a:ext cx="6791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6F2E9"/>
                </a:solidFill>
                <a:latin typeface="DejaVu Sans"/>
                <a:ea typeface="DejaVu Sans"/>
                <a:cs typeface="DejaVu Sans"/>
              </a:defRPr>
            </a:defPPr>
          </a:lstStyle>
          <a:p xmlns:a="http://schemas.openxmlformats.org/drawingml/2006/main">
            <a:pPr algn="l">
              <a:buNone/>
              <a:defRPr sz="2100" b="0">
                <a:solidFill>
                  <a:srgbClr val="F6F2E9"/>
                </a:solidFill>
                <a:latin typeface="DejaVu Sans"/>
                <a:ea typeface="DejaVu Sans"/>
                <a:cs typeface="DejaVu Sans"/>
              </a:defRPr>
            </a:pPr>
            <a:r>
              <a:rPr sz="2100" b="0">
                <a:solidFill>
                  <a:srgbClr val="F6F2E9"/>
                </a:solidFill>
                <a:latin typeface="DejaVu Sans"/>
                <a:ea typeface="DejaVu Sans"/>
                <a:cs typeface="DejaVu Sans"/>
              </a:rPr>
              <a:t>A repeatable workflow for comparable heat-adaptation decisions across Arab cities.</a:t>
            </a:r>
          </a:p>
        </p:txBody>
      </p:sp>
    </p:spTree>
    <p:extLst>
      <p:ext uri="{BB962C8B-B14F-4D97-AF65-F5344CB8AC3E}">
        <p14:creationId xmlns:p14="http://schemas.microsoft.com/office/powerpoint/2010/main" val="1046660519"/>
      </p:ext>
    </p:extLst>
  </p:cSld>
</p:sld>
</file>

<file path=ppt/slides/slide13.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AD9B58C4-26D3-4D96-9FC5-D0A3C0F5A91E}"/>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3C3D"/>
                </a:solidFill>
                <a:latin typeface="DejaVu Sans"/>
                <a:ea typeface="DejaVu Sans"/>
                <a:cs typeface="DejaVu Sans"/>
              </a:defRPr>
            </a:defPPr>
          </a:lstStyle>
          <a:p xmlns:a="http://schemas.openxmlformats.org/drawingml/2006/main">
            <a:pPr algn="l">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Next steps for incubation</a:t>
            </a:r>
          </a:p>
        </p:txBody>
      </p:sp>
      <p:sp>
        <p:nvSpPr>
          <p:cNvPr id="2" name="text">
            <a:extLst xmlns:a="http://schemas.openxmlformats.org/drawingml/2006/main">
              <a:ext uri="{FF2B5EF4-FFF2-40B4-BE49-F238E27FC236}">
                <a16:creationId xmlns:a16="http://schemas.microsoft.com/office/drawing/2014/main" id="{DBEC8AAC-6CB4-4F05-AAE3-4C0979A3E109}"/>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3" name="text">
            <a:extLst xmlns:a="http://schemas.openxmlformats.org/drawingml/2006/main">
              <a:ext uri="{FF2B5EF4-FFF2-40B4-BE49-F238E27FC236}">
                <a16:creationId xmlns:a16="http://schemas.microsoft.com/office/drawing/2014/main" id="{182CC8E5-B180-4A21-92DA-8C2447FC57FE}"/>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967"/>
                </a:solidFill>
                <a:latin typeface="DejaVu Sans"/>
                <a:ea typeface="DejaVu Sans"/>
                <a:cs typeface="DejaVu Sans"/>
              </a:defRPr>
            </a:defPPr>
          </a:lstStyle>
          <a:p xmlns:a="http://schemas.openxmlformats.org/drawingml/2006/main">
            <a:pPr algn="l">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13</a:t>
            </a:r>
          </a:p>
        </p:txBody>
      </p:sp>
      <p:sp>
        <p:nvSpPr>
          <p:cNvPr id="4" name="text">
            <a:extLst xmlns:a="http://schemas.openxmlformats.org/drawingml/2006/main">
              <a:ext uri="{FF2B5EF4-FFF2-40B4-BE49-F238E27FC236}">
                <a16:creationId xmlns:a16="http://schemas.microsoft.com/office/drawing/2014/main" id="{13E55BEF-94D1-4E7D-82D7-ABB1185435AD}"/>
              </a:ext>
            </a:extLst>
          </p:cNvPr>
          <p:cNvSpPr>
            <a:spLocks xmlns:a="http://schemas.openxmlformats.org/drawingml/2006/main" noGrp="1"/>
          </p:cNvSpPr>
          <p:nvPr/>
        </p:nvSpPr>
        <p:spPr>
          <a:xfrm xmlns:a="http://schemas.openxmlformats.org/drawingml/2006/main">
            <a:off x="609600" y="1590675"/>
            <a:ext cx="60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B45336"/>
                </a:solidFill>
                <a:latin typeface="DejaVu Sans"/>
                <a:ea typeface="DejaVu Sans"/>
                <a:cs typeface="DejaVu Sans"/>
              </a:defRPr>
            </a:defPPr>
          </a:lstStyle>
          <a:p xmlns:a="http://schemas.openxmlformats.org/drawingml/2006/main">
            <a:pPr algn="l">
              <a:buNone/>
              <a:defRPr sz="2625" b="1">
                <a:solidFill>
                  <a:srgbClr val="B45336"/>
                </a:solidFill>
                <a:latin typeface="DejaVu Sans"/>
                <a:ea typeface="DejaVu Sans"/>
                <a:cs typeface="DejaVu Sans"/>
              </a:defRPr>
            </a:pPr>
            <a:r>
              <a:rPr sz="2625" b="1">
                <a:solidFill>
                  <a:srgbClr val="B45336"/>
                </a:solidFill>
                <a:latin typeface="DejaVu Sans"/>
                <a:ea typeface="DejaVu Sans"/>
                <a:cs typeface="DejaVu Sans"/>
              </a:rPr>
              <a:t>01</a:t>
            </a:r>
          </a:p>
        </p:txBody>
      </p:sp>
      <p:sp>
        <p:nvSpPr>
          <p:cNvPr id="5" name="text">
            <a:extLst xmlns:a="http://schemas.openxmlformats.org/drawingml/2006/main">
              <a:ext uri="{FF2B5EF4-FFF2-40B4-BE49-F238E27FC236}">
                <a16:creationId xmlns:a16="http://schemas.microsoft.com/office/drawing/2014/main" id="{FDE8CEBB-1563-4BCA-9EBE-5D922F64815E}"/>
              </a:ext>
            </a:extLst>
          </p:cNvPr>
          <p:cNvSpPr>
            <a:spLocks xmlns:a="http://schemas.openxmlformats.org/drawingml/2006/main" noGrp="1"/>
          </p:cNvSpPr>
          <p:nvPr/>
        </p:nvSpPr>
        <p:spPr>
          <a:xfrm xmlns:a="http://schemas.openxmlformats.org/drawingml/2006/main">
            <a:off x="1552575" y="1590675"/>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3C3D"/>
                </a:solidFill>
                <a:latin typeface="DejaVu Sans"/>
                <a:ea typeface="DejaVu Sans"/>
                <a:cs typeface="DejaVu Sans"/>
              </a:defRPr>
            </a:defPPr>
          </a:lstStyle>
          <a:p xmlns:a="http://schemas.openxmlformats.org/drawingml/2006/main">
            <a:pPr algn="l">
              <a:buNone/>
              <a:defRPr sz="2025" b="1">
                <a:solidFill>
                  <a:srgbClr val="163C3D"/>
                </a:solidFill>
                <a:latin typeface="DejaVu Sans"/>
                <a:ea typeface="DejaVu Sans"/>
                <a:cs typeface="DejaVu Sans"/>
              </a:defRPr>
            </a:pPr>
            <a:r>
              <a:rPr sz="2025" b="1">
                <a:solidFill>
                  <a:srgbClr val="163C3D"/>
                </a:solidFill>
                <a:latin typeface="DejaVu Sans"/>
                <a:ea typeface="DejaVu Sans"/>
                <a:cs typeface="DejaVu Sans"/>
              </a:rPr>
              <a:t>Secure the pilot scope</a:t>
            </a:r>
          </a:p>
        </p:txBody>
      </p:sp>
      <p:sp>
        <p:nvSpPr>
          <p:cNvPr id="6" name="text">
            <a:extLst xmlns:a="http://schemas.openxmlformats.org/drawingml/2006/main">
              <a:ext uri="{FF2B5EF4-FFF2-40B4-BE49-F238E27FC236}">
                <a16:creationId xmlns:a16="http://schemas.microsoft.com/office/drawing/2014/main" id="{DE72C024-E76D-4F47-B9D4-449433F3EFCF}"/>
              </a:ext>
            </a:extLst>
          </p:cNvPr>
          <p:cNvSpPr>
            <a:spLocks xmlns:a="http://schemas.openxmlformats.org/drawingml/2006/main" noGrp="1"/>
          </p:cNvSpPr>
          <p:nvPr/>
        </p:nvSpPr>
        <p:spPr>
          <a:xfrm xmlns:a="http://schemas.openxmlformats.org/drawingml/2006/main">
            <a:off x="6153150" y="1590675"/>
            <a:ext cx="5410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C3D"/>
                </a:solidFill>
                <a:latin typeface="DejaVu Sans"/>
                <a:ea typeface="DejaVu Sans"/>
                <a:cs typeface="DejaVu Sans"/>
              </a:defRPr>
            </a:defPPr>
          </a:lstStyle>
          <a:p xmlns:a="http://schemas.openxmlformats.org/drawingml/2006/main">
            <a:pPr algn="l">
              <a:buNone/>
              <a:defRPr sz="1950" b="0">
                <a:solidFill>
                  <a:srgbClr val="163C3D"/>
                </a:solidFill>
                <a:latin typeface="DejaVu Sans"/>
                <a:ea typeface="DejaVu Sans"/>
                <a:cs typeface="DejaVu Sans"/>
              </a:defRPr>
            </a:pPr>
            <a:r>
              <a:rPr sz="1950" b="0">
                <a:solidFill>
                  <a:srgbClr val="163C3D"/>
                </a:solidFill>
                <a:latin typeface="DejaVu Sans"/>
                <a:ea typeface="DejaVu Sans"/>
                <a:cs typeface="DejaVu Sans"/>
              </a:rPr>
              <a:t>Obtain an authorised M11–M12 boundary and confirm user needs.</a:t>
            </a:r>
          </a:p>
        </p:txBody>
      </p:sp>
      <p:sp>
        <p:nvSpPr>
          <p:cNvPr id="7" name="text">
            <a:extLst xmlns:a="http://schemas.openxmlformats.org/drawingml/2006/main">
              <a:ext uri="{FF2B5EF4-FFF2-40B4-BE49-F238E27FC236}">
                <a16:creationId xmlns:a16="http://schemas.microsoft.com/office/drawing/2014/main" id="{710740B9-0BC8-4CBE-AB60-736C6F539D41}"/>
              </a:ext>
            </a:extLst>
          </p:cNvPr>
          <p:cNvSpPr>
            <a:spLocks xmlns:a="http://schemas.openxmlformats.org/drawingml/2006/main" noGrp="1"/>
          </p:cNvSpPr>
          <p:nvPr/>
        </p:nvSpPr>
        <p:spPr>
          <a:xfrm xmlns:a="http://schemas.openxmlformats.org/drawingml/2006/main">
            <a:off x="609600" y="2676525"/>
            <a:ext cx="60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B45336"/>
                </a:solidFill>
                <a:latin typeface="DejaVu Sans"/>
                <a:ea typeface="DejaVu Sans"/>
                <a:cs typeface="DejaVu Sans"/>
              </a:defRPr>
            </a:defPPr>
          </a:lstStyle>
          <a:p xmlns:a="http://schemas.openxmlformats.org/drawingml/2006/main">
            <a:pPr algn="l">
              <a:buNone/>
              <a:defRPr sz="2625" b="1">
                <a:solidFill>
                  <a:srgbClr val="B45336"/>
                </a:solidFill>
                <a:latin typeface="DejaVu Sans"/>
                <a:ea typeface="DejaVu Sans"/>
                <a:cs typeface="DejaVu Sans"/>
              </a:defRPr>
            </a:pPr>
            <a:r>
              <a:rPr sz="2625" b="1">
                <a:solidFill>
                  <a:srgbClr val="B45336"/>
                </a:solidFill>
                <a:latin typeface="DejaVu Sans"/>
                <a:ea typeface="DejaVu Sans"/>
                <a:cs typeface="DejaVu Sans"/>
              </a:rPr>
              <a:t>02</a:t>
            </a:r>
          </a:p>
        </p:txBody>
      </p:sp>
      <p:sp>
        <p:nvSpPr>
          <p:cNvPr id="8" name="text">
            <a:extLst xmlns:a="http://schemas.openxmlformats.org/drawingml/2006/main">
              <a:ext uri="{FF2B5EF4-FFF2-40B4-BE49-F238E27FC236}">
                <a16:creationId xmlns:a16="http://schemas.microsoft.com/office/drawing/2014/main" id="{A9D72C54-A300-465A-B810-28BC971DF8B7}"/>
              </a:ext>
            </a:extLst>
          </p:cNvPr>
          <p:cNvSpPr>
            <a:spLocks xmlns:a="http://schemas.openxmlformats.org/drawingml/2006/main" noGrp="1"/>
          </p:cNvSpPr>
          <p:nvPr/>
        </p:nvSpPr>
        <p:spPr>
          <a:xfrm xmlns:a="http://schemas.openxmlformats.org/drawingml/2006/main">
            <a:off x="1552575" y="2676525"/>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3C3D"/>
                </a:solidFill>
                <a:latin typeface="DejaVu Sans"/>
                <a:ea typeface="DejaVu Sans"/>
                <a:cs typeface="DejaVu Sans"/>
              </a:defRPr>
            </a:defPPr>
          </a:lstStyle>
          <a:p xmlns:a="http://schemas.openxmlformats.org/drawingml/2006/main">
            <a:pPr algn="l">
              <a:buNone/>
              <a:defRPr sz="2025" b="1">
                <a:solidFill>
                  <a:srgbClr val="163C3D"/>
                </a:solidFill>
                <a:latin typeface="DejaVu Sans"/>
                <a:ea typeface="DejaVu Sans"/>
                <a:cs typeface="DejaVu Sans"/>
              </a:defRPr>
            </a:pPr>
            <a:r>
              <a:rPr sz="2025" b="1">
                <a:solidFill>
                  <a:srgbClr val="163C3D"/>
                </a:solidFill>
                <a:latin typeface="DejaVu Sans"/>
                <a:ea typeface="DejaVu Sans"/>
                <a:cs typeface="DejaVu Sans"/>
              </a:rPr>
              <a:t>Expand the evidence</a:t>
            </a:r>
          </a:p>
        </p:txBody>
      </p:sp>
      <p:sp>
        <p:nvSpPr>
          <p:cNvPr id="9" name="text">
            <a:extLst xmlns:a="http://schemas.openxmlformats.org/drawingml/2006/main">
              <a:ext uri="{FF2B5EF4-FFF2-40B4-BE49-F238E27FC236}">
                <a16:creationId xmlns:a16="http://schemas.microsoft.com/office/drawing/2014/main" id="{E321D742-5A6D-466E-B549-DAA5E2E39389}"/>
              </a:ext>
            </a:extLst>
          </p:cNvPr>
          <p:cNvSpPr>
            <a:spLocks xmlns:a="http://schemas.openxmlformats.org/drawingml/2006/main" noGrp="1"/>
          </p:cNvSpPr>
          <p:nvPr/>
        </p:nvSpPr>
        <p:spPr>
          <a:xfrm xmlns:a="http://schemas.openxmlformats.org/drawingml/2006/main">
            <a:off x="6153150" y="2676525"/>
            <a:ext cx="5410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C3D"/>
                </a:solidFill>
                <a:latin typeface="DejaVu Sans"/>
                <a:ea typeface="DejaVu Sans"/>
                <a:cs typeface="DejaVu Sans"/>
              </a:defRPr>
            </a:defPPr>
          </a:lstStyle>
          <a:p xmlns:a="http://schemas.openxmlformats.org/drawingml/2006/main">
            <a:pPr algn="l">
              <a:buNone/>
              <a:defRPr sz="1950" b="0">
                <a:solidFill>
                  <a:srgbClr val="163C3D"/>
                </a:solidFill>
                <a:latin typeface="DejaVu Sans"/>
                <a:ea typeface="DejaVu Sans"/>
                <a:cs typeface="DejaVu Sans"/>
              </a:defRPr>
            </a:pPr>
            <a:r>
              <a:rPr sz="1950" b="0">
                <a:solidFill>
                  <a:srgbClr val="163C3D"/>
                </a:solidFill>
                <a:latin typeface="DejaVu Sans"/>
                <a:ea typeface="DejaVu Sans"/>
                <a:cs typeface="DejaVu Sans"/>
              </a:rPr>
              <a:t>Add observation dates, test persistence and reserve dates for validation.</a:t>
            </a:r>
          </a:p>
        </p:txBody>
      </p:sp>
      <p:sp>
        <p:nvSpPr>
          <p:cNvPr id="10" name="text">
            <a:extLst xmlns:a="http://schemas.openxmlformats.org/drawingml/2006/main">
              <a:ext uri="{FF2B5EF4-FFF2-40B4-BE49-F238E27FC236}">
                <a16:creationId xmlns:a16="http://schemas.microsoft.com/office/drawing/2014/main" id="{DFBB357A-1F3C-456B-A9C9-7B8C87D2CF77}"/>
              </a:ext>
            </a:extLst>
          </p:cNvPr>
          <p:cNvSpPr>
            <a:spLocks xmlns:a="http://schemas.openxmlformats.org/drawingml/2006/main" noGrp="1"/>
          </p:cNvSpPr>
          <p:nvPr/>
        </p:nvSpPr>
        <p:spPr>
          <a:xfrm xmlns:a="http://schemas.openxmlformats.org/drawingml/2006/main">
            <a:off x="609600" y="3762375"/>
            <a:ext cx="60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B45336"/>
                </a:solidFill>
                <a:latin typeface="DejaVu Sans"/>
                <a:ea typeface="DejaVu Sans"/>
                <a:cs typeface="DejaVu Sans"/>
              </a:defRPr>
            </a:defPPr>
          </a:lstStyle>
          <a:p xmlns:a="http://schemas.openxmlformats.org/drawingml/2006/main">
            <a:pPr algn="l">
              <a:buNone/>
              <a:defRPr sz="2625" b="1">
                <a:solidFill>
                  <a:srgbClr val="B45336"/>
                </a:solidFill>
                <a:latin typeface="DejaVu Sans"/>
                <a:ea typeface="DejaVu Sans"/>
                <a:cs typeface="DejaVu Sans"/>
              </a:defRPr>
            </a:pPr>
            <a:r>
              <a:rPr sz="2625" b="1">
                <a:solidFill>
                  <a:srgbClr val="B45336"/>
                </a:solidFill>
                <a:latin typeface="DejaVu Sans"/>
                <a:ea typeface="DejaVu Sans"/>
                <a:cs typeface="DejaVu Sans"/>
              </a:rPr>
              <a:t>03</a:t>
            </a:r>
          </a:p>
        </p:txBody>
      </p:sp>
      <p:sp>
        <p:nvSpPr>
          <p:cNvPr id="11" name="text">
            <a:extLst xmlns:a="http://schemas.openxmlformats.org/drawingml/2006/main">
              <a:ext uri="{FF2B5EF4-FFF2-40B4-BE49-F238E27FC236}">
                <a16:creationId xmlns:a16="http://schemas.microsoft.com/office/drawing/2014/main" id="{5CE9DB3F-1947-41CC-A070-554CD4E07BEE}"/>
              </a:ext>
            </a:extLst>
          </p:cNvPr>
          <p:cNvSpPr>
            <a:spLocks xmlns:a="http://schemas.openxmlformats.org/drawingml/2006/main" noGrp="1"/>
          </p:cNvSpPr>
          <p:nvPr/>
        </p:nvSpPr>
        <p:spPr>
          <a:xfrm xmlns:a="http://schemas.openxmlformats.org/drawingml/2006/main">
            <a:off x="1552575" y="3762375"/>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3C3D"/>
                </a:solidFill>
                <a:latin typeface="DejaVu Sans"/>
                <a:ea typeface="DejaVu Sans"/>
                <a:cs typeface="DejaVu Sans"/>
              </a:defRPr>
            </a:defPPr>
          </a:lstStyle>
          <a:p xmlns:a="http://schemas.openxmlformats.org/drawingml/2006/main">
            <a:pPr algn="l">
              <a:buNone/>
              <a:defRPr sz="2025" b="1">
                <a:solidFill>
                  <a:srgbClr val="163C3D"/>
                </a:solidFill>
                <a:latin typeface="DejaVu Sans"/>
                <a:ea typeface="DejaVu Sans"/>
                <a:cs typeface="DejaVu Sans"/>
              </a:defRPr>
            </a:pPr>
            <a:r>
              <a:rPr sz="2025" b="1">
                <a:solidFill>
                  <a:srgbClr val="163C3D"/>
                </a:solidFill>
                <a:latin typeface="DejaVu Sans"/>
                <a:ea typeface="DejaVu Sans"/>
                <a:cs typeface="DejaVu Sans"/>
              </a:rPr>
              <a:t>Test on the ground</a:t>
            </a:r>
          </a:p>
        </p:txBody>
      </p:sp>
      <p:sp>
        <p:nvSpPr>
          <p:cNvPr id="12" name="text">
            <a:extLst xmlns:a="http://schemas.openxmlformats.org/drawingml/2006/main">
              <a:ext uri="{FF2B5EF4-FFF2-40B4-BE49-F238E27FC236}">
                <a16:creationId xmlns:a16="http://schemas.microsoft.com/office/drawing/2014/main" id="{4B811DBC-F8A3-43BA-8CE1-B111BC425A2A}"/>
              </a:ext>
            </a:extLst>
          </p:cNvPr>
          <p:cNvSpPr>
            <a:spLocks xmlns:a="http://schemas.openxmlformats.org/drawingml/2006/main" noGrp="1"/>
          </p:cNvSpPr>
          <p:nvPr/>
        </p:nvSpPr>
        <p:spPr>
          <a:xfrm xmlns:a="http://schemas.openxmlformats.org/drawingml/2006/main">
            <a:off x="6153150" y="3762375"/>
            <a:ext cx="5410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C3D"/>
                </a:solidFill>
                <a:latin typeface="DejaVu Sans"/>
                <a:ea typeface="DejaVu Sans"/>
                <a:cs typeface="DejaVu Sans"/>
              </a:defRPr>
            </a:defPPr>
          </a:lstStyle>
          <a:p xmlns:a="http://schemas.openxmlformats.org/drawingml/2006/main">
            <a:pPr algn="l">
              <a:buNone/>
              <a:defRPr sz="1950" b="0">
                <a:solidFill>
                  <a:srgbClr val="163C3D"/>
                </a:solidFill>
                <a:latin typeface="DejaVu Sans"/>
                <a:ea typeface="DejaVu Sans"/>
                <a:cs typeface="DejaVu Sans"/>
              </a:defRPr>
            </a:pPr>
            <a:r>
              <a:rPr sz="1950" b="0">
                <a:solidFill>
                  <a:srgbClr val="163C3D"/>
                </a:solidFill>
                <a:latin typeface="DejaVu Sans"/>
                <a:ea typeface="DejaVu Sans"/>
                <a:cs typeface="DejaVu Sans"/>
              </a:rPr>
              <a:t>Check surface labels, candidate actions and operational usefulness.</a:t>
            </a:r>
          </a:p>
        </p:txBody>
      </p:sp>
      <p:sp>
        <p:nvSpPr>
          <p:cNvPr id="13" name="text">
            <a:extLst xmlns:a="http://schemas.openxmlformats.org/drawingml/2006/main">
              <a:ext uri="{FF2B5EF4-FFF2-40B4-BE49-F238E27FC236}">
                <a16:creationId xmlns:a16="http://schemas.microsoft.com/office/drawing/2014/main" id="{30C334FD-F0CF-48B4-AC9F-528255531A57}"/>
              </a:ext>
            </a:extLst>
          </p:cNvPr>
          <p:cNvSpPr>
            <a:spLocks xmlns:a="http://schemas.openxmlformats.org/drawingml/2006/main" noGrp="1"/>
          </p:cNvSpPr>
          <p:nvPr/>
        </p:nvSpPr>
        <p:spPr>
          <a:xfrm xmlns:a="http://schemas.openxmlformats.org/drawingml/2006/main">
            <a:off x="609600" y="4848225"/>
            <a:ext cx="60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B45336"/>
                </a:solidFill>
                <a:latin typeface="DejaVu Sans"/>
                <a:ea typeface="DejaVu Sans"/>
                <a:cs typeface="DejaVu Sans"/>
              </a:defRPr>
            </a:defPPr>
          </a:lstStyle>
          <a:p xmlns:a="http://schemas.openxmlformats.org/drawingml/2006/main">
            <a:pPr algn="l">
              <a:buNone/>
              <a:defRPr sz="2625" b="1">
                <a:solidFill>
                  <a:srgbClr val="B45336"/>
                </a:solidFill>
                <a:latin typeface="DejaVu Sans"/>
                <a:ea typeface="DejaVu Sans"/>
                <a:cs typeface="DejaVu Sans"/>
              </a:defRPr>
            </a:pPr>
            <a:r>
              <a:rPr sz="2625" b="1">
                <a:solidFill>
                  <a:srgbClr val="B45336"/>
                </a:solidFill>
                <a:latin typeface="DejaVu Sans"/>
                <a:ea typeface="DejaVu Sans"/>
                <a:cs typeface="DejaVu Sans"/>
              </a:rPr>
              <a:t>04</a:t>
            </a:r>
          </a:p>
        </p:txBody>
      </p:sp>
      <p:sp>
        <p:nvSpPr>
          <p:cNvPr id="14" name="text">
            <a:extLst xmlns:a="http://schemas.openxmlformats.org/drawingml/2006/main">
              <a:ext uri="{FF2B5EF4-FFF2-40B4-BE49-F238E27FC236}">
                <a16:creationId xmlns:a16="http://schemas.microsoft.com/office/drawing/2014/main" id="{BE633172-6B80-44C2-B193-4D716D5822D4}"/>
              </a:ext>
            </a:extLst>
          </p:cNvPr>
          <p:cNvSpPr>
            <a:spLocks xmlns:a="http://schemas.openxmlformats.org/drawingml/2006/main" noGrp="1"/>
          </p:cNvSpPr>
          <p:nvPr/>
        </p:nvSpPr>
        <p:spPr>
          <a:xfrm xmlns:a="http://schemas.openxmlformats.org/drawingml/2006/main">
            <a:off x="1552575" y="4848225"/>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3C3D"/>
                </a:solidFill>
                <a:latin typeface="DejaVu Sans"/>
                <a:ea typeface="DejaVu Sans"/>
                <a:cs typeface="DejaVu Sans"/>
              </a:defRPr>
            </a:defPPr>
          </a:lstStyle>
          <a:p xmlns:a="http://schemas.openxmlformats.org/drawingml/2006/main">
            <a:pPr algn="l">
              <a:buNone/>
              <a:defRPr sz="2025" b="1">
                <a:solidFill>
                  <a:srgbClr val="163C3D"/>
                </a:solidFill>
                <a:latin typeface="DejaVu Sans"/>
                <a:ea typeface="DejaVu Sans"/>
                <a:cs typeface="DejaVu Sans"/>
              </a:defRPr>
            </a:pPr>
            <a:r>
              <a:rPr sz="2025" b="1">
                <a:solidFill>
                  <a:srgbClr val="163C3D"/>
                </a:solidFill>
                <a:latin typeface="DejaVu Sans"/>
                <a:ea typeface="DejaVu Sans"/>
                <a:cs typeface="DejaVu Sans"/>
              </a:rPr>
              <a:t>Evaluate hyperspectral value</a:t>
            </a:r>
          </a:p>
        </p:txBody>
      </p:sp>
      <p:sp>
        <p:nvSpPr>
          <p:cNvPr id="15" name="text">
            <a:extLst xmlns:a="http://schemas.openxmlformats.org/drawingml/2006/main">
              <a:ext uri="{FF2B5EF4-FFF2-40B4-BE49-F238E27FC236}">
                <a16:creationId xmlns:a16="http://schemas.microsoft.com/office/drawing/2014/main" id="{40EC8B11-83B8-4427-92D7-8461FA75B21B}"/>
              </a:ext>
            </a:extLst>
          </p:cNvPr>
          <p:cNvSpPr>
            <a:spLocks xmlns:a="http://schemas.openxmlformats.org/drawingml/2006/main" noGrp="1"/>
          </p:cNvSpPr>
          <p:nvPr/>
        </p:nvSpPr>
        <p:spPr>
          <a:xfrm xmlns:a="http://schemas.openxmlformats.org/drawingml/2006/main">
            <a:off x="6153150" y="4848225"/>
            <a:ext cx="5410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3C3D"/>
                </a:solidFill>
                <a:latin typeface="DejaVu Sans"/>
                <a:ea typeface="DejaVu Sans"/>
                <a:cs typeface="DejaVu Sans"/>
              </a:defRPr>
            </a:defPPr>
          </a:lstStyle>
          <a:p xmlns:a="http://schemas.openxmlformats.org/drawingml/2006/main">
            <a:pPr algn="l">
              <a:buNone/>
              <a:defRPr sz="1950" b="0">
                <a:solidFill>
                  <a:srgbClr val="163C3D"/>
                </a:solidFill>
                <a:latin typeface="DejaVu Sans"/>
                <a:ea typeface="DejaVu Sans"/>
                <a:cs typeface="DejaVu Sans"/>
              </a:defRPr>
            </a:pPr>
            <a:r>
              <a:rPr sz="1950" b="0">
                <a:solidFill>
                  <a:srgbClr val="163C3D"/>
                </a:solidFill>
                <a:latin typeface="DejaVu Sans"/>
                <a:ea typeface="DejaVu Sans"/>
                <a:cs typeface="DejaVu Sans"/>
              </a:rPr>
              <a:t>Use suitable imagery only if access and additional benefit are demonstrated.</a:t>
            </a:r>
          </a:p>
        </p:txBody>
      </p:sp>
      <p:sp>
        <p:nvSpPr>
          <p:cNvPr id="16" name="text">
            <a:extLst xmlns:a="http://schemas.openxmlformats.org/drawingml/2006/main">
              <a:ext uri="{FF2B5EF4-FFF2-40B4-BE49-F238E27FC236}">
                <a16:creationId xmlns:a16="http://schemas.microsoft.com/office/drawing/2014/main" id="{CE663B70-53DC-41DA-9AED-65A32B299FAA}"/>
              </a:ext>
            </a:extLst>
          </p:cNvPr>
          <p:cNvSpPr>
            <a:spLocks xmlns:a="http://schemas.openxmlformats.org/drawingml/2006/main" noGrp="1"/>
          </p:cNvSpPr>
          <p:nvPr/>
        </p:nvSpPr>
        <p:spPr>
          <a:xfrm xmlns:a="http://schemas.openxmlformats.org/drawingml/2006/main">
            <a:off x="609600" y="6000750"/>
            <a:ext cx="10925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45336"/>
                </a:solidFill>
                <a:latin typeface="DejaVu Sans"/>
                <a:ea typeface="DejaVu Sans"/>
                <a:cs typeface="DejaVu Sans"/>
              </a:defRPr>
            </a:defPPr>
          </a:lstStyle>
          <a:p xmlns:a="http://schemas.openxmlformats.org/drawingml/2006/main">
            <a:pPr algn="l">
              <a:buNone/>
              <a:defRPr sz="1650" b="0">
                <a:solidFill>
                  <a:srgbClr val="B45336"/>
                </a:solidFill>
                <a:latin typeface="DejaVu Sans"/>
                <a:ea typeface="DejaVu Sans"/>
                <a:cs typeface="DejaVu Sans"/>
              </a:defRPr>
            </a:pPr>
            <a:r>
              <a:rPr sz="1650" b="0">
                <a:solidFill>
                  <a:srgbClr val="B45336"/>
                </a:solidFill>
                <a:latin typeface="DejaVu Sans"/>
                <a:ea typeface="DejaVu Sans"/>
                <a:cs typeface="DejaVu Sans"/>
              </a:rPr>
              <a:t>Training and mentorship will help the team test responsibly and continue beyond the competition.</a:t>
            </a:r>
          </a:p>
        </p:txBody>
      </p:sp>
    </p:spTree>
    <p:extLst>
      <p:ext uri="{BB962C8B-B14F-4D97-AF65-F5344CB8AC3E}">
        <p14:creationId xmlns:p14="http://schemas.microsoft.com/office/powerpoint/2010/main" val="1260005862"/>
      </p:ext>
    </p:extLst>
  </p:cSld>
</p:sld>
</file>

<file path=ppt/slides/slide14.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5CB5AEA-6C2F-420C-9F95-3CB6212BB9E6}"/>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C3D"/>
                </a:solidFill>
                <a:latin typeface="DejaVu Sans"/>
                <a:ea typeface="DejaVu Sans"/>
                <a:cs typeface="DejaVu Sans"/>
              </a:defRPr>
            </a:defPPr>
          </a:lstStyle>
          <a:p xmlns:a="http://schemas.openxmlformats.org/drawingml/2006/main">
            <a:pPr>
              <a:buNone/>
              <a:defRPr sz="3225" b="1">
                <a:solidFill>
                  <a:srgbClr val="163C3D"/>
                </a:solidFill>
                <a:latin typeface="DejaVu Sans"/>
                <a:ea typeface="DejaVu Sans"/>
                <a:cs typeface="DejaVu Sans"/>
              </a:defRPr>
            </a:pPr>
            <a:r>
              <a:rPr sz="3225" b="1">
                <a:solidFill>
                  <a:srgbClr val="163C3D"/>
                </a:solidFill>
                <a:latin typeface="DejaVu Sans"/>
                <a:ea typeface="DejaVu Sans"/>
                <a:cs typeface="DejaVu Sans"/>
              </a:rPr>
              <a:t>UrbanCool AI team</a:t>
            </a:r>
          </a:p>
        </p:txBody>
      </p:sp>
      <p:sp>
        <p:nvSpPr>
          <p:cNvPr id="2" name="text">
            <a:extLst xmlns:a="http://schemas.openxmlformats.org/drawingml/2006/main">
              <a:ext uri="{FF2B5EF4-FFF2-40B4-BE49-F238E27FC236}">
                <a16:creationId xmlns:a16="http://schemas.microsoft.com/office/drawing/2014/main" id="{E234E84C-DB16-4F12-B9F7-6E92F865A5B0}"/>
              </a:ext>
            </a:extLst>
          </p:cNvPr>
          <p:cNvSpPr>
            <a:spLocks xmlns:a="http://schemas.openxmlformats.org/drawingml/2006/main" noGrp="1"/>
          </p:cNvSpPr>
          <p:nvPr/>
        </p:nvSpPr>
        <p:spPr>
          <a:xfrm xmlns:a="http://schemas.openxmlformats.org/drawingml/2006/main">
            <a:off x="609600" y="14573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96967"/>
                </a:solidFill>
                <a:latin typeface="DejaVu Sans"/>
                <a:ea typeface="DejaVu Sans"/>
                <a:cs typeface="DejaVu Sans"/>
              </a:defRPr>
            </a:defPPr>
          </a:lstStyle>
          <a:p xmlns:a="http://schemas.openxmlformats.org/drawingml/2006/main">
            <a:pPr>
              <a:buNone/>
              <a:defRPr sz="2025" b="0">
                <a:solidFill>
                  <a:srgbClr val="596967"/>
                </a:solidFill>
                <a:latin typeface="DejaVu Sans"/>
                <a:ea typeface="DejaVu Sans"/>
                <a:cs typeface="DejaVu Sans"/>
              </a:defRPr>
            </a:pPr>
            <a:r>
              <a:rPr sz="2025" b="0">
                <a:solidFill>
                  <a:srgbClr val="596967"/>
                </a:solidFill>
                <a:latin typeface="DejaVu Sans"/>
                <a:ea typeface="DejaVu Sans"/>
                <a:cs typeface="DejaVu Sans"/>
              </a:rPr>
              <a:t>All five members developed the project collaboratively.</a:t>
            </a:r>
          </a:p>
        </p:txBody>
      </p:sp>
      <p:graphicFrame>
        <p:nvGraphicFramePr>
          <p:cNvPr id="3" name="">
            <a:extLst xmlns:a="http://schemas.openxmlformats.org/drawingml/2006/main">
              <a:ext uri="{FF2B5EF4-FFF2-40B4-BE49-F238E27FC236}">
                <a16:creationId xmlns:a16="http://schemas.microsoft.com/office/drawing/2014/main" id="{6018284C-6704-4BC8-A808-F1FD699BCC83}"/>
              </a:ext>
            </a:extLst>
          </p:cNvPr>
          <p:cNvGraphicFramePr/>
          <p:nvPr/>
        </p:nvGraphicFramePr>
        <p:xfrm>
          <a:off xmlns:a="http://schemas.openxmlformats.org/drawingml/2006/main" x="609600" y="2209800"/>
          <a:ext xmlns:a="http://schemas.openxmlformats.org/drawingml/2006/main" cx="10972800" cy="3562350"/>
        </p:xfrm>
        <a:graphic xmlns:a="http://schemas.openxmlformats.org/drawingml/2006/main">
          <a:graphicData uri="http://schemas.openxmlformats.org/drawingml/2006/table">
            <a:tbl>
              <a:tblPr firstRow="0" bandRow="0"/>
              <a:tblGrid>
                <a:gridCol w="7258050"/>
                <a:gridCol w="3714750"/>
              </a:tblGrid>
              <a:tr h="514350">
                <a:tc>
                  <a:txBody>
                    <a:bodyPr lIns="152400" tIns="76200" rIns="152400" bIns="76200">
                      <a:noAutofit/>
                    </a:bodyPr>
                    <a:lstStyle/>
                    <a:p>
                      <a:r>
                        <a:rPr sz="1725" b="1">
                          <a:solidFill>
                            <a:srgbClr val="F6F2E9"/>
                          </a:solidFill>
                          <a:latin typeface="DejaVu Sans"/>
                          <a:ea typeface="DejaVu Sans"/>
                          <a:cs typeface="DejaVu Sans"/>
                        </a:rPr>
                        <a:t>Member</a:t>
                      </a:r>
                    </a:p>
                  </a:txBody>
                  <a:tcPr marL="91440" marR="91440" marT="45720" marB="45720" anchor="ctr">
                    <a:solidFill>
                      <a:srgbClr val="163C3D"/>
                    </a:solidFill>
                  </a:tcPr>
                </a:tc>
                <a:tc>
                  <a:txBody>
                    <a:bodyPr lIns="152400" tIns="76200" rIns="152400" bIns="76200">
                      <a:noAutofit/>
                    </a:bodyPr>
                    <a:lstStyle/>
                    <a:p>
                      <a:r>
                        <a:rPr sz="1725" b="1">
                          <a:solidFill>
                            <a:srgbClr val="F6F2E9"/>
                          </a:solidFill>
                          <a:latin typeface="DejaVu Sans"/>
                          <a:ea typeface="DejaVu Sans"/>
                          <a:cs typeface="DejaVu Sans"/>
                        </a:rPr>
                        <a:t>Role</a:t>
                      </a:r>
                    </a:p>
                  </a:txBody>
                  <a:tcPr marL="91440" marR="91440" marT="45720" marB="45720" anchor="ctr">
                    <a:solidFill>
                      <a:srgbClr val="163C3D"/>
                    </a:solidFill>
                  </a:tcPr>
                </a:tc>
              </a:tr>
              <a:tr h="609600">
                <a:tc>
                  <a:txBody>
                    <a:bodyPr lIns="152400" tIns="76200" rIns="152400" bIns="76200">
                      <a:noAutofit/>
                    </a:bodyPr>
                    <a:lstStyle/>
                    <a:p>
                      <a:r>
                        <a:rPr sz="1875" b="0">
                          <a:solidFill>
                            <a:srgbClr val="163C3D"/>
                          </a:solidFill>
                          <a:latin typeface="DejaVu Sans"/>
                          <a:ea typeface="DejaVu Sans"/>
                          <a:cs typeface="DejaVu Sans"/>
                        </a:rPr>
                        <a:t>Nyar Adil Babiker Abdelrahman</a:t>
                      </a:r>
                    </a:p>
                  </a:txBody>
                  <a:tcPr marL="91440" marR="91440" marT="45720" marB="45720" anchor="ctr">
                    <a:solidFill>
                      <a:srgbClr val="F6F2E9"/>
                    </a:solidFill>
                  </a:tcPr>
                </a:tc>
                <a:tc>
                  <a:txBody>
                    <a:bodyPr lIns="152400" tIns="76200" rIns="152400" bIns="76200">
                      <a:noAutofit/>
                    </a:bodyPr>
                    <a:lstStyle/>
                    <a:p>
                      <a:r>
                        <a:rPr sz="1875" b="0">
                          <a:solidFill>
                            <a:srgbClr val="163C3D"/>
                          </a:solidFill>
                          <a:latin typeface="DejaVu Sans"/>
                          <a:ea typeface="DejaVu Sans"/>
                          <a:cs typeface="DejaVu Sans"/>
                        </a:rPr>
                        <a:t>Team lead and co-developer</a:t>
                      </a:r>
                    </a:p>
                  </a:txBody>
                  <a:tcPr marL="91440" marR="91440" marT="45720" marB="45720" anchor="ctr">
                    <a:solidFill>
                      <a:srgbClr val="F6F2E9"/>
                    </a:solidFill>
                  </a:tcPr>
                </a:tc>
              </a:tr>
              <a:tr h="609600">
                <a:tc>
                  <a:txBody>
                    <a:bodyPr lIns="152400" tIns="76200" rIns="152400" bIns="76200">
                      <a:noAutofit/>
                    </a:bodyPr>
                    <a:lstStyle/>
                    <a:p>
                      <a:r>
                        <a:rPr sz="1875" b="0">
                          <a:solidFill>
                            <a:srgbClr val="163C3D"/>
                          </a:solidFill>
                          <a:latin typeface="DejaVu Sans"/>
                          <a:ea typeface="DejaVu Sans"/>
                          <a:cs typeface="DejaVu Sans"/>
                        </a:rPr>
                        <a:t>Shahd Ehab Abdulmalek Eshaq</a:t>
                      </a:r>
                    </a:p>
                  </a:txBody>
                  <a:tcPr marL="91440" marR="91440" marT="45720" marB="45720" anchor="ctr">
                    <a:solidFill>
                      <a:srgbClr val="F6F2E9"/>
                    </a:solidFill>
                  </a:tcPr>
                </a:tc>
                <a:tc>
                  <a:txBody>
                    <a:bodyPr lIns="152400" tIns="76200" rIns="152400" bIns="76200">
                      <a:noAutofit/>
                    </a:bodyPr>
                    <a:lstStyle/>
                    <a:p>
                      <a:r>
                        <a:rPr sz="1875" b="0">
                          <a:solidFill>
                            <a:srgbClr val="163C3D"/>
                          </a:solidFill>
                          <a:latin typeface="DejaVu Sans"/>
                          <a:ea typeface="DejaVu Sans"/>
                          <a:cs typeface="DejaVu Sans"/>
                        </a:rPr>
                        <a:t>Co-developer</a:t>
                      </a:r>
                    </a:p>
                  </a:txBody>
                  <a:tcPr marL="91440" marR="91440" marT="45720" marB="45720" anchor="ctr">
                    <a:solidFill>
                      <a:srgbClr val="F6F2E9"/>
                    </a:solidFill>
                  </a:tcPr>
                </a:tc>
              </a:tr>
              <a:tr h="609600">
                <a:tc>
                  <a:txBody>
                    <a:bodyPr lIns="152400" tIns="76200" rIns="152400" bIns="76200">
                      <a:noAutofit/>
                    </a:bodyPr>
                    <a:lstStyle/>
                    <a:p>
                      <a:r>
                        <a:rPr sz="1875" b="0">
                          <a:solidFill>
                            <a:srgbClr val="163C3D"/>
                          </a:solidFill>
                          <a:latin typeface="DejaVu Sans"/>
                          <a:ea typeface="DejaVu Sans"/>
                          <a:cs typeface="DejaVu Sans"/>
                        </a:rPr>
                        <a:t>Nour Alhoda Abdulrahman Alahmed</a:t>
                      </a:r>
                    </a:p>
                  </a:txBody>
                  <a:tcPr marL="91440" marR="91440" marT="45720" marB="45720" anchor="ctr">
                    <a:solidFill>
                      <a:srgbClr val="F6F2E9"/>
                    </a:solidFill>
                  </a:tcPr>
                </a:tc>
                <a:tc>
                  <a:txBody>
                    <a:bodyPr lIns="152400" tIns="76200" rIns="152400" bIns="76200">
                      <a:noAutofit/>
                    </a:bodyPr>
                    <a:lstStyle/>
                    <a:p>
                      <a:r>
                        <a:rPr sz="1875" b="0">
                          <a:solidFill>
                            <a:srgbClr val="163C3D"/>
                          </a:solidFill>
                          <a:latin typeface="DejaVu Sans"/>
                          <a:ea typeface="DejaVu Sans"/>
                          <a:cs typeface="DejaVu Sans"/>
                        </a:rPr>
                        <a:t>Co-developer</a:t>
                      </a:r>
                    </a:p>
                  </a:txBody>
                  <a:tcPr marL="91440" marR="91440" marT="45720" marB="45720" anchor="ctr">
                    <a:solidFill>
                      <a:srgbClr val="F6F2E9"/>
                    </a:solidFill>
                  </a:tcPr>
                </a:tc>
              </a:tr>
              <a:tr h="609600">
                <a:tc>
                  <a:txBody>
                    <a:bodyPr lIns="152400" tIns="76200" rIns="152400" bIns="76200">
                      <a:noAutofit/>
                    </a:bodyPr>
                    <a:lstStyle/>
                    <a:p>
                      <a:r>
                        <a:rPr sz="1875" b="0">
                          <a:solidFill>
                            <a:srgbClr val="163C3D"/>
                          </a:solidFill>
                          <a:latin typeface="DejaVu Sans"/>
                          <a:ea typeface="DejaVu Sans"/>
                          <a:cs typeface="DejaVu Sans"/>
                        </a:rPr>
                        <a:t>Yosra Ghneem</a:t>
                      </a:r>
                    </a:p>
                  </a:txBody>
                  <a:tcPr marL="91440" marR="91440" marT="45720" marB="45720" anchor="ctr">
                    <a:solidFill>
                      <a:srgbClr val="F6F2E9"/>
                    </a:solidFill>
                  </a:tcPr>
                </a:tc>
                <a:tc>
                  <a:txBody>
                    <a:bodyPr lIns="152400" tIns="76200" rIns="152400" bIns="76200">
                      <a:noAutofit/>
                    </a:bodyPr>
                    <a:lstStyle/>
                    <a:p>
                      <a:r>
                        <a:rPr sz="1875" b="0">
                          <a:solidFill>
                            <a:srgbClr val="163C3D"/>
                          </a:solidFill>
                          <a:latin typeface="DejaVu Sans"/>
                          <a:ea typeface="DejaVu Sans"/>
                          <a:cs typeface="DejaVu Sans"/>
                        </a:rPr>
                        <a:t>Co-developer</a:t>
                      </a:r>
                    </a:p>
                  </a:txBody>
                  <a:tcPr marL="91440" marR="91440" marT="45720" marB="45720" anchor="ctr">
                    <a:solidFill>
                      <a:srgbClr val="F6F2E9"/>
                    </a:solidFill>
                  </a:tcPr>
                </a:tc>
              </a:tr>
              <a:tr h="609600">
                <a:tc>
                  <a:txBody>
                    <a:bodyPr lIns="152400" tIns="76200" rIns="152400" bIns="76200">
                      <a:noAutofit/>
                    </a:bodyPr>
                    <a:lstStyle/>
                    <a:p>
                      <a:r>
                        <a:rPr sz="1875" b="0">
                          <a:solidFill>
                            <a:srgbClr val="163C3D"/>
                          </a:solidFill>
                          <a:latin typeface="DejaVu Sans"/>
                          <a:ea typeface="DejaVu Sans"/>
                          <a:cs typeface="DejaVu Sans"/>
                        </a:rPr>
                        <a:t>Ruba Babikir Ali Mohamed</a:t>
                      </a:r>
                    </a:p>
                  </a:txBody>
                  <a:tcPr marL="91440" marR="91440" marT="45720" marB="45720" anchor="ctr">
                    <a:solidFill>
                      <a:srgbClr val="F6F2E9"/>
                    </a:solidFill>
                  </a:tcPr>
                </a:tc>
                <a:tc>
                  <a:txBody>
                    <a:bodyPr lIns="152400" tIns="76200" rIns="152400" bIns="76200">
                      <a:noAutofit/>
                    </a:bodyPr>
                    <a:lstStyle/>
                    <a:p>
                      <a:r>
                        <a:rPr sz="1875" b="0">
                          <a:solidFill>
                            <a:srgbClr val="163C3D"/>
                          </a:solidFill>
                          <a:latin typeface="DejaVu Sans"/>
                          <a:ea typeface="DejaVu Sans"/>
                          <a:cs typeface="DejaVu Sans"/>
                        </a:rPr>
                        <a:t>Co-developer</a:t>
                      </a:r>
                    </a:p>
                  </a:txBody>
                  <a:tcPr marL="91440" marR="91440" marT="45720" marB="45720" anchor="ctr">
                    <a:solidFill>
                      <a:srgbClr val="F6F2E9"/>
                    </a:solidFill>
                  </a:tcPr>
                </a:tc>
              </a:tr>
            </a:tbl>
          </a:graphicData>
        </a:graphic>
      </p:graphicFrame>
      <p:sp>
        <p:nvSpPr>
          <p:cNvPr id="4" name="text">
            <a:extLst xmlns:a="http://schemas.openxmlformats.org/drawingml/2006/main">
              <a:ext uri="{FF2B5EF4-FFF2-40B4-BE49-F238E27FC236}">
                <a16:creationId xmlns:a16="http://schemas.microsoft.com/office/drawing/2014/main" id="{92820AC2-911E-4D6A-93C5-78BDE6A2BFCD}"/>
              </a:ext>
            </a:extLst>
          </p:cNvPr>
          <p:cNvSpPr>
            <a:spLocks xmlns:a="http://schemas.openxmlformats.org/drawingml/2006/main" noGrp="1"/>
          </p:cNvSpPr>
          <p:nvPr/>
        </p:nvSpPr>
        <p:spPr>
          <a:xfrm xmlns:a="http://schemas.openxmlformats.org/drawingml/2006/main">
            <a:off x="609600" y="59817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45336"/>
                </a:solidFill>
                <a:latin typeface="DejaVu Sans"/>
                <a:ea typeface="DejaVu Sans"/>
                <a:cs typeface="DejaVu Sans"/>
              </a:defRPr>
            </a:defPPr>
          </a:lstStyle>
          <a:p xmlns:a="http://schemas.openxmlformats.org/drawingml/2006/main">
            <a:pPr>
              <a:buNone/>
              <a:defRPr sz="1650" b="0">
                <a:solidFill>
                  <a:srgbClr val="B45336"/>
                </a:solidFill>
                <a:latin typeface="DejaVu Sans"/>
                <a:ea typeface="DejaVu Sans"/>
                <a:cs typeface="DejaVu Sans"/>
              </a:defRPr>
            </a:pPr>
            <a:r>
              <a:rPr sz="1650" b="0">
                <a:solidFill>
                  <a:srgbClr val="B45336"/>
                </a:solidFill>
                <a:latin typeface="DejaVu Sans"/>
                <a:ea typeface="DejaVu Sans"/>
                <a:cs typeface="DejaVu Sans"/>
              </a:rPr>
              <a:t>United Arab Emirates</a:t>
            </a:r>
          </a:p>
        </p:txBody>
      </p:sp>
      <p:sp>
        <p:nvSpPr>
          <p:cNvPr id="5" name="text">
            <a:extLst xmlns:a="http://schemas.openxmlformats.org/drawingml/2006/main">
              <a:ext uri="{FF2B5EF4-FFF2-40B4-BE49-F238E27FC236}">
                <a16:creationId xmlns:a16="http://schemas.microsoft.com/office/drawing/2014/main" id="{E04E829B-2CC5-44B9-AD0A-91AD8690368B}"/>
              </a:ext>
            </a:extLst>
          </p:cNvPr>
          <p:cNvSpPr>
            <a:spLocks xmlns:a="http://schemas.openxmlformats.org/drawingml/2006/main" noGrp="1"/>
          </p:cNvSpPr>
          <p:nvPr/>
        </p:nvSpPr>
        <p:spPr>
          <a:xfrm xmlns:a="http://schemas.openxmlformats.org/drawingml/2006/main">
            <a:off x="609600" y="641032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96967"/>
                </a:solidFill>
                <a:latin typeface="DejaVu Sans"/>
                <a:ea typeface="DejaVu Sans"/>
                <a:cs typeface="DejaVu Sans"/>
              </a:defRPr>
            </a:defPPr>
          </a:lstStyle>
          <a:p xmlns:a="http://schemas.openxmlformats.org/drawingml/2006/main">
            <a:pPr>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HeatShield 813</a:t>
            </a:r>
          </a:p>
        </p:txBody>
      </p:sp>
      <p:sp>
        <p:nvSpPr>
          <p:cNvPr id="6" name="text">
            <a:extLst xmlns:a="http://schemas.openxmlformats.org/drawingml/2006/main">
              <a:ext uri="{FF2B5EF4-FFF2-40B4-BE49-F238E27FC236}">
                <a16:creationId xmlns:a16="http://schemas.microsoft.com/office/drawing/2014/main" id="{08AC6555-6FFD-42CB-A00C-9DD4AE5B07B7}"/>
              </a:ext>
            </a:extLst>
          </p:cNvPr>
          <p:cNvSpPr>
            <a:spLocks xmlns:a="http://schemas.openxmlformats.org/drawingml/2006/main" noGrp="1"/>
          </p:cNvSpPr>
          <p:nvPr/>
        </p:nvSpPr>
        <p:spPr>
          <a:xfrm xmlns:a="http://schemas.openxmlformats.org/drawingml/2006/main">
            <a:off x="11144250" y="64103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96967"/>
                </a:solidFill>
                <a:latin typeface="DejaVu Sans"/>
                <a:ea typeface="DejaVu Sans"/>
                <a:cs typeface="DejaVu Sans"/>
              </a:defRPr>
            </a:defPPr>
          </a:lstStyle>
          <a:p xmlns:a="http://schemas.openxmlformats.org/drawingml/2006/main">
            <a:pPr>
              <a:buNone/>
              <a:defRPr sz="1125" b="0">
                <a:solidFill>
                  <a:srgbClr val="596967"/>
                </a:solidFill>
                <a:latin typeface="DejaVu Sans"/>
                <a:ea typeface="DejaVu Sans"/>
                <a:cs typeface="DejaVu Sans"/>
              </a:defRPr>
            </a:pPr>
            <a:r>
              <a:rPr sz="1125" b="0">
                <a:solidFill>
                  <a:srgbClr val="596967"/>
                </a:solidFill>
                <a:latin typeface="DejaVu Sans"/>
                <a:ea typeface="DejaVu Sans"/>
                <a:cs typeface="DejaVu Sans"/>
              </a:rPr>
              <a:t>14</a:t>
            </a:r>
          </a:p>
        </p:txBody>
      </p:sp>
    </p:spTree>
    <p:extLst>
      <p:ext uri="{BB962C8B-B14F-4D97-AF65-F5344CB8AC3E}">
        <p14:creationId xmlns:p14="http://schemas.microsoft.com/office/powerpoint/2010/main" val="1331724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2026-10-11T17:15:57.8620000Z</dcterms:created>
  <dcterms:modified xsi:type="dcterms:W3CDTF">2026-10-11T17:15:57.8620000Z</dcterms:modified>
</coreProperties>
</file>